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奶茶店创业方案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Microsoft YaHei"/>
              </a:defRPr>
            </a:pPr>
            <a:r>
              <a:t>商业投资视角  |  大学城赛道  |  加盟成熟品牌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预算 30 万级  ·  目标回本周期 12-18 个月  ·  私域运营为核心壁垒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77"/>
                </a:solidFill>
                <a:latin typeface="Microsoft YaHei"/>
              </a:defRPr>
            </a:pPr>
            <a:r>
              <a:t>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01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783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8A"/>
                </a:solidFill>
                <a:latin typeface="Microsoft YaHei"/>
              </a:defRPr>
            </a:pPr>
            <a:r>
              <a:t>02  市场分析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03  选址策略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8A"/>
                </a:solidFill>
                <a:latin typeface="Microsoft YaHei"/>
              </a:defRPr>
            </a:pPr>
            <a:r>
              <a:t>04  品牌选择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05  产品与定价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8A"/>
                </a:solidFill>
                <a:latin typeface="Microsoft YaHei"/>
              </a:defRPr>
            </a:pPr>
            <a:r>
              <a:t>06  私域运营方案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07  财务预测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800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8A"/>
                </a:solidFill>
                <a:latin typeface="Microsoft YaHei"/>
              </a:defRPr>
            </a:pPr>
            <a:r>
              <a:t>08  风险分析与应对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09  实施时间线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806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8A"/>
                </a:solidFill>
                <a:latin typeface="Microsoft YaHei"/>
              </a:defRPr>
            </a:pPr>
            <a:r>
              <a:t>10  下一步行动清单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01  Executive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38328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赛道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大学城 · 多校环绕区域</a:t>
                      </a:r>
                    </a:p>
                  </a:txBody>
                  <a:tcPr anchor="ctr"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模式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加盟成熟品牌（待选）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价格带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中端主流 12-18 元均价</a:t>
                      </a:r>
                    </a:p>
                  </a:txBody>
                  <a:tcPr anchor="ctr"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产品线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30+ SKU 多元品类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核心壁垒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私域运营 + 校园地推 + 会员体系</a:t>
                      </a:r>
                    </a:p>
                  </a:txBody>
                  <a:tcPr anchor="ctr"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运营方式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创始人全职投入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预期回本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12-18 个月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5B8A"/>
                </a:solidFill>
                <a:latin typeface="Microsoft YaHei"/>
              </a:defRPr>
            </a:pPr>
            <a:r>
              <a:t>关键假设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日均杯数 200-300 杯（旺季）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淡季 50-100 杯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客单价 13.5 元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寒暑假接受亏损，年度拉通正向现金流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加盟品牌提供供应链和产品培训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02  市场分析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5B8A"/>
                </a:solidFill>
                <a:latin typeface="Microsoft YaHei"/>
              </a:defRPr>
            </a:pPr>
            <a:r>
              <a:t>大学城奶茶市场特征</a:t>
            </a:r>
          </a:p>
          <a:p>
            <a:pPr algn="l">
              <a:spcBef>
                <a:spcPts val="1200"/>
              </a:spcBef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优势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学生客群消费频次高、社交传播意愿强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学业节奏形成下午茶消费习惯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多校环绕降低单一依赖</a:t>
            </a:r>
          </a:p>
          <a:p>
            <a:pPr algn="l">
              <a:spcBef>
                <a:spcPts val="1200"/>
              </a:spcBef>
              <a:defRPr sz="1500" b="1">
                <a:solidFill>
                  <a:srgbClr val="C0392B"/>
                </a:solidFill>
                <a:latin typeface="Microsoft YaHei"/>
              </a:defRPr>
            </a:pPr>
            <a:r>
              <a:t>劣势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寒暑假 2 个月淡季明显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价格敏感，追求性价比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品牌忠诚度低，好奇心驱动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竞争密度高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18872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品牌类型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代表品牌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定价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威胁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极致低价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蜜雪冰城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6-10元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中端连锁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茶百道/古茗/霸王茶姬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12-18元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本地散店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不知名小店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8-15元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高端茶饮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喜茶/奈雪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20+元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6C00"/>
                </a:solidFill>
                <a:latin typeface="Microsoft YaHei"/>
              </a:defRPr>
            </a:pPr>
            <a:r>
              <a:t>核心洞察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大学城市场已被中低价品牌充分覆盖，新进入者必须在差异化和私域运营上找到突破口。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03  选址策略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5B8A"/>
                </a:solidFill>
                <a:latin typeface="Microsoft YaHei"/>
              </a:defRPr>
            </a:pPr>
            <a:r>
              <a:t>选址优先级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7AE60"/>
                </a:solidFill>
                <a:latin typeface="Microsoft YaHei"/>
              </a:defRPr>
            </a:pPr>
            <a:r>
              <a:t>  ✓  正门/后街主通道（人流必经）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7AE60"/>
                </a:solidFill>
                <a:latin typeface="Microsoft YaHei"/>
              </a:defRPr>
            </a:pPr>
            <a:r>
              <a:t>  ✓  多校交汇处（覆盖多所大学）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7AE60"/>
                </a:solidFill>
                <a:latin typeface="Microsoft YaHei"/>
              </a:defRPr>
            </a:pPr>
            <a:r>
              <a:t>  ✓  竞品相邻但不死对门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C0392B"/>
                </a:solidFill>
                <a:latin typeface="Microsoft YaHei"/>
              </a:defRPr>
            </a:pPr>
            <a:r>
              <a:t>  ✗  商场高楼层（学生懒得爬）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C0392B"/>
                </a:solidFill>
                <a:latin typeface="Microsoft YaHei"/>
              </a:defRPr>
            </a:pPr>
            <a:r>
              <a:t>  ✗  位置偏僻的便宜铺位</a:t>
            </a:r>
          </a:p>
          <a:p>
            <a:pPr algn="l">
              <a:spcBef>
                <a:spcPts val="1600"/>
              </a:spcBef>
              <a:defRPr sz="1600" b="1">
                <a:solidFill>
                  <a:srgbClr val="2D5B8A"/>
                </a:solidFill>
                <a:latin typeface="Microsoft YaHei"/>
              </a:defRPr>
            </a:pPr>
            <a:r>
              <a:t>谈判要点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至少谈3轮，试探底价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高转让费就谈减免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善用我再看看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签长约至少3年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188720"/>
          <a:ext cx="5303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9319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评估项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要点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人流统计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早/中/晚/周末四个时段数人头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竞品分析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500米内奶茶店数量及生意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租金对比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日租金÷预估日营收 &lt; 30%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转让费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警惕高转让费陷阱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产权确认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商用产权，可办营业执照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招牌可见性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招牌越大越好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04  品牌选择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97280"/>
                <a:gridCol w="1097280"/>
                <a:gridCol w="1280160"/>
                <a:gridCol w="16459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品牌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加盟费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供应链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品牌势能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大学城适配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蜜雪冰城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极强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低价太卷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茶百道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强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推荐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霸王茶姬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高(上升期)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推荐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古茗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强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视区域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益禾堂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性价比之选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警惕信号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⚠ 口头承诺不写进合同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⚠ 告诉你三个月回本的品牌方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⚠ 供应链价格明显高于市场价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⚠ 合同有强制囤货条款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5B8A"/>
                </a:solidFill>
                <a:latin typeface="Microsoft YaHei"/>
              </a:defRPr>
            </a:pPr>
            <a:r>
              <a:t>建议行动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1. 实地考察：选定3个目标品牌，各去3家门店蹲点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2. 联系加盟商：争取和3个真实加盟商聊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3. 请律师看合同：花500-1000元请律师过一遍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05  产品与定价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1097280"/>
                <a:gridCol w="228600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品类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定位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经典奶茶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5-8款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引流款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珍珠奶茶、椰果奶茶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鲜果茶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6-8款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利润款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杨枝甘露、芋泥波波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柠檬茶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3-4款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夏季爆款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手打柠檬茶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纯茶/轻饮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3-4款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差异化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茉莉茶、桂花乌龙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季节限定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3-5款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打卡款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秋冬热可可</a:t>
                      </a:r>
                    </a:p>
                  </a:txBody>
                  <a:tcPr anchor="ctr"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咖啡/特饮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3-4款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扩品类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拿铁、生椰拿铁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109728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价格带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8-12元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引流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珍珠奶茶、柠檬水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13-16元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主力利润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杨枝甘露、芋泥波波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17-20元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品质升级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芋泥啵啵奶茶(大杯)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20+元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打卡噱头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季节限定超大杯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5B8A"/>
                </a:solidFill>
                <a:latin typeface="Microsoft YaHei"/>
              </a:defRPr>
            </a:pPr>
            <a:r>
              <a:t>成本控制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毛利率约 55-65%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原料损耗是利润杀手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出品超过4小时必须废弃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06  私域运营方案 — 核心武器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B8A"/>
                </a:solidFill>
                <a:latin typeface="Microsoft YaHei"/>
              </a:defRPr>
            </a:pPr>
            <a:r>
              <a:t>公域获客 → 私域留存 → 裂变增长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5B8A"/>
                </a:solidFill>
                <a:latin typeface="Microsoft YaHei"/>
              </a:defRPr>
            </a:pPr>
            <a:r>
              <a:t>微信社群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每日5个时段固定触达</a:t>
            </a:r>
            <a:br/>
            <a:r>
              <a:t>建2-3个500人社群</a:t>
            </a:r>
            <a:br/>
            <a:r>
              <a:t>养成阅读习惯，严禁广告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828800"/>
            <a:ext cx="25603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5B8A"/>
                </a:solidFill>
                <a:latin typeface="Microsoft YaHei"/>
              </a:defRPr>
            </a:pPr>
            <a:r>
              <a:t>会员储值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46888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普通/银卡/金卡三级体系</a:t>
            </a:r>
            <a:br/>
            <a:r>
              <a:t>储值用户复购2-3倍</a:t>
            </a:r>
            <a:br/>
            <a:r>
              <a:t>充值200享9折，500享8.5折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25603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5B8A"/>
                </a:solidFill>
                <a:latin typeface="Microsoft YaHei"/>
              </a:defRPr>
            </a:pPr>
            <a:r>
              <a:t>校园代理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每校2-3个学生代理</a:t>
            </a:r>
            <a:br/>
            <a:r>
              <a:t>每单提成1-2元</a:t>
            </a:r>
            <a:br/>
            <a:r>
              <a:t>预期贡献20-30%新客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828800"/>
            <a:ext cx="25603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5B8A"/>
                </a:solidFill>
                <a:latin typeface="Microsoft YaHei"/>
              </a:defRPr>
            </a:pPr>
            <a:r>
              <a:t>抖音本地生活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46888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每周2-3条短视频</a:t>
            </a:r>
            <a:br/>
            <a:r>
              <a:t>抖+定向投放大学生</a:t>
            </a:r>
            <a:br/>
            <a:r>
              <a:t>每月100+新客到店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484632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第1月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第3月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第6月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社群人数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3000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月储值金额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5000元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20000元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40000元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校园代理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10人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抖音月曝光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10000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30000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50000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07  财务预测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5029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228600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金额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备注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加盟费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3-5万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视品牌</a:t>
                      </a:r>
                    </a:p>
                  </a:txBody>
                  <a:tcPr anchor="ctr"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保证金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1-2万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可退还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装修费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5-8万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30-50㎡标准店</a:t>
                      </a:r>
                    </a:p>
                  </a:txBody>
                  <a:tcPr anchor="ctr"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设备费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3-5万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多数含在加盟里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首批原料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2-3万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首批物料进货</a:t>
                      </a:r>
                    </a:p>
                  </a:txBody>
                  <a:tcPr anchor="ctr"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开业营销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1-2万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打折、推广费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16-27万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18872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822960"/>
                <a:gridCol w="914400"/>
                <a:gridCol w="914400"/>
                <a:gridCol w="100584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日均杯数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客单价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月营收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月利润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回本周期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保守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150杯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58500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5-10K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2.5-3年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中性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250杯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13.5元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101250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15-30K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1-1.5年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乐观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350杯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147000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35-55K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0.8-1年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8404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5B8A"/>
                </a:solidFill>
                <a:latin typeface="Microsoft YaHei"/>
              </a:defRPr>
            </a:pPr>
            <a:r>
              <a:t>盈亏平衡分析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月固定成本 ≈ 30,500 元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盈亏平衡点 ≈ 22 杯/天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每天卖出22杯即覆盖固定成本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08  风险分析与应对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6400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914400"/>
                <a:gridCol w="320040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概率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应对策略</a:t>
                      </a:r>
                    </a:p>
                  </a:txBody>
                  <a:tcPr anchor="ctr">
                    <a:solidFill>
                      <a:srgbClr val="2D5B8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竞争太卷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差异化定位 + 私域壁垒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选址失误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多点位调研 + 谈判技巧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加盟被坑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合同审查 + 多方调研</a:t>
                      </a:r>
                    </a:p>
                  </a:txBody>
                  <a:tcPr anchor="ctr"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现金流断裂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极高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预留6个月运营资金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产品翻车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培训到位 + 标准化流程</a:t>
                      </a:r>
                    </a:p>
                  </a:txBody>
                  <a:tcPr anchor="ctr"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人员流失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股权激励 + 梯队培养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「竞争太卷」专项应对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错位竞争 — 不和蜜雪打价格战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私域护城河 — 会员储值锁客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校园代理拦截 — 先于竞品建网络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爆款打卡效应 — 打造必喝爆款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极致服务体验 — 记住常客名字和口味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09  实施时间线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5B8A"/>
                </a:solidFill>
                <a:latin typeface="Microsoft YaHei"/>
              </a:defRPr>
            </a:pPr>
            <a:r>
              <a:t>阶段一：筹备期（1-2月）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品牌研究+实地考察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联系加盟商、约谈门店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找铺位、蹲点人流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铺位谈判、签约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装修+设备采购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员工招聘培训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开业前营销预热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18872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6C00"/>
                </a:solidFill>
                <a:latin typeface="Microsoft YaHei"/>
              </a:defRPr>
            </a:pPr>
            <a:r>
              <a:t>阶段二：爬坡期（3-6月）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打出声量，日均150杯+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优化SOP，降低损耗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会员体系完善，储值2万+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校园代理体系成型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日均200杯+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18872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阶段三：稳定期（7-12月）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旺季冲刺日均300杯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回本50%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淡季防守控制成本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全年回本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  下一步行动清单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本周开始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选3个目标品牌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研究加盟合同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开始找铺位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18872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第2-4周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蹲点统计人流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和至少5个加盟商聊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算清楚财务账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18872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开业前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组建社群预热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招募校园代理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设计会员体系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抖音养号+内容储备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选址靠腿 · 运营靠盯 · 服务靠心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Microsoft YaHei"/>
              </a:defRPr>
            </a:pPr>
            <a:r>
              <a:t>30万投进去，赌的是执行力和判断力，不是运气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祝开业大吉，红红火火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