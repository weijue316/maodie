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7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8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9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0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17"/>
  </p:notesMasterIdLst>
  <p:sldIdLst>
    <p:sldId id="300" r:id="rId3"/>
    <p:sldId id="305" r:id="rId4"/>
    <p:sldId id="335" r:id="rId5"/>
    <p:sldId id="356" r:id="rId6"/>
    <p:sldId id="357" r:id="rId7"/>
    <p:sldId id="358" r:id="rId8"/>
    <p:sldId id="359" r:id="rId9"/>
    <p:sldId id="353" r:id="rId10"/>
    <p:sldId id="360" r:id="rId11"/>
    <p:sldId id="361" r:id="rId12"/>
    <p:sldId id="354" r:id="rId13"/>
    <p:sldId id="362" r:id="rId14"/>
    <p:sldId id="351" r:id="rId15"/>
    <p:sldId id="309" r:id="rId16"/>
  </p:sldIdLst>
  <p:sldSz cx="9144000" cy="5143500" type="screen16x9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o hong" initials="y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949" autoAdjust="0"/>
  </p:normalViewPr>
  <p:slideViewPr>
    <p:cSldViewPr snapToGrid="0">
      <p:cViewPr>
        <p:scale>
          <a:sx n="125" d="100"/>
          <a:sy n="125" d="100"/>
        </p:scale>
        <p:origin x="441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898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016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117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49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101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621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224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737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844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192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9000" y="4735800"/>
            <a:ext cx="2025000" cy="237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EBB821-54F2-4F03-B5CD-4DC650959223}" type="datetimeFigureOut">
              <a:rPr lang="zh-CN" altLang="en-US"/>
              <a:t>2026/4/26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7000" y="4735800"/>
            <a:ext cx="2970000" cy="237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58200" y="4735800"/>
            <a:ext cx="2025000" cy="237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6FE66C-2821-4EE0-9289-3E1B19A205F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图片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20437" y="1246764"/>
            <a:ext cx="4932218" cy="2653289"/>
          </a:xfrm>
        </p:spPr>
        <p:txBody>
          <a:bodyPr/>
          <a:lstStyle/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040293" y="716537"/>
            <a:ext cx="2853342" cy="371374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标题 5"/>
          <p:cNvSpPr>
            <a:spLocks noGrp="1"/>
          </p:cNvSpPr>
          <p:nvPr>
            <p:ph type="title"/>
          </p:nvPr>
        </p:nvSpPr>
        <p:spPr>
          <a:xfrm>
            <a:off x="910789" y="207818"/>
            <a:ext cx="3637325" cy="50569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Font typeface="Wingdings" panose="05000000000000000000" charset="0"/>
              <a:buNone/>
              <a:defRPr kumimoji="1" lang="zh-CN" altLang="en-US" sz="1800" b="1" kern="1200" spc="30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olas" pitchFamily="49" charset="0"/>
                <a:ea typeface="华文中宋" pitchFamily="2" charset="-122"/>
                <a:cs typeface="Consolas" pitchFamily="49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5299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58ECF2-AE8E-4529-8EE9-39556443A22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B6F541-1A90-468F-A29E-A8B6B460631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A538F3-B2A3-43D2-A43F-DC33245479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40770F-DA90-4FE9-BFA7-AD812A00439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032113-6A5A-4295-AB09-29A5AE2A476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429F4-650D-443C-AF59-AE344BF79E8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>
                <a:solidFill>
                  <a:srgbClr val="FF0000"/>
                </a:solidFill>
              </a:defRPr>
            </a:lvl1pPr>
          </a:lstStyle>
          <a:p>
            <a:pPr>
              <a:defRPr/>
            </a:pPr>
            <a:fld id="{F9C8B322-AAEC-425B-BB08-6C606BAE9CC0}" type="slidenum">
              <a:rPr lang="en-US" altLang="zh-CN"/>
              <a:t>‹#›</a:t>
            </a:fld>
            <a:r>
              <a:rPr lang="en-US" altLang="zh-CN"/>
              <a:t>/11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F23E6-4B3D-4AC0-9C7F-4BC77677830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7F6AA-64C5-4A08-8CD1-98D253A4D8A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8BDB1E-E4C4-445D-AE34-F331B407043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D27930-D738-46EE-96EF-B24467E3A32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1F24A64-E373-47E3-BCC7-698E087B277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15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rtl="0" eaLnBrk="0" fontAlgn="base" hangingPunct="0">
        <a:spcBef>
          <a:spcPct val="15000"/>
        </a:spcBef>
        <a:spcAft>
          <a:spcPct val="0"/>
        </a:spcAft>
        <a:buFont typeface="Arial" panose="020B060402020209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15000"/>
        </a:spcBef>
        <a:spcAft>
          <a:spcPct val="0"/>
        </a:spcAft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15000"/>
        </a:spcBef>
        <a:spcAft>
          <a:spcPct val="0"/>
        </a:spcAft>
        <a:buFont typeface="Arial" panose="020B060402020209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15000"/>
        </a:spcBef>
        <a:spcAft>
          <a:spcPct val="0"/>
        </a:spcAft>
        <a:buFont typeface="Arial" panose="020B060402020209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Relationship Id="rId5" Type="http://schemas.openxmlformats.org/officeDocument/2006/relationships/image" Target="../media/image10.png"/><Relationship Id="rId4" Type="http://schemas.openxmlformats.org/officeDocument/2006/relationships/image" Target="../media/image9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4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277745"/>
            <a:ext cx="9144000" cy="1691640"/>
          </a:xfrm>
          <a:prstGeom prst="rect">
            <a:avLst/>
          </a:prstGeom>
          <a:gradFill>
            <a:gsLst>
              <a:gs pos="0">
                <a:srgbClr val="56A0B9"/>
              </a:gs>
              <a:gs pos="100000">
                <a:srgbClr val="5DBDC3"/>
              </a:gs>
            </a:gsLst>
            <a:lin scaled="1"/>
          </a:gradFill>
          <a:ln w="25400" cap="flat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15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  <p:sp>
        <p:nvSpPr>
          <p:cNvPr id="9220" name="文本框 16"/>
          <p:cNvSpPr txBox="1">
            <a:spLocks noChangeArrowheads="1"/>
          </p:cNvSpPr>
          <p:nvPr/>
        </p:nvSpPr>
        <p:spPr bwMode="auto">
          <a:xfrm>
            <a:off x="3221083" y="2652358"/>
            <a:ext cx="5456464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智能体开发实践应用</a:t>
            </a:r>
            <a:endParaRPr lang="en-US" altLang="zh-CN" sz="2400" b="1">
              <a:solidFill>
                <a:prstClr val="white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      </a:t>
            </a:r>
            <a:r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——</a:t>
            </a:r>
            <a:r>
              <a: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Agent</a:t>
            </a:r>
            <a:r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支持</a:t>
            </a:r>
            <a:r>
              <a: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tool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</a:endParaRPr>
          </a:p>
        </p:txBody>
      </p:sp>
      <p:grpSp>
        <p:nvGrpSpPr>
          <p:cNvPr id="18443" name="组合 12"/>
          <p:cNvGrpSpPr/>
          <p:nvPr/>
        </p:nvGrpSpPr>
        <p:grpSpPr bwMode="auto">
          <a:xfrm>
            <a:off x="3452495" y="822960"/>
            <a:ext cx="5319395" cy="1258570"/>
            <a:chOff x="4194223" y="1916700"/>
            <a:chExt cx="7981531" cy="1368853"/>
          </a:xfrm>
        </p:grpSpPr>
        <p:cxnSp>
          <p:nvCxnSpPr>
            <p:cNvPr id="19" name="直接连接符 18"/>
            <p:cNvCxnSpPr/>
            <p:nvPr/>
          </p:nvCxnSpPr>
          <p:spPr>
            <a:xfrm flipH="1">
              <a:off x="4194223" y="3285553"/>
              <a:ext cx="3600803" cy="0"/>
            </a:xfrm>
            <a:prstGeom prst="line">
              <a:avLst/>
            </a:prstGeom>
            <a:ln>
              <a:headEnd type="diamond" w="med" len="med"/>
              <a:tailEnd type="diamond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795026" y="1916700"/>
              <a:ext cx="0" cy="1368853"/>
            </a:xfrm>
            <a:prstGeom prst="line">
              <a:avLst/>
            </a:prstGeom>
            <a:ln>
              <a:headEnd type="diamond" w="med" len="med"/>
              <a:tailEnd type="diamond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 flipV="1">
              <a:off x="7795026" y="1916700"/>
              <a:ext cx="4380728" cy="37723"/>
            </a:xfrm>
            <a:prstGeom prst="line">
              <a:avLst/>
            </a:prstGeom>
            <a:ln>
              <a:headEnd type="diamond" w="med" len="med"/>
              <a:tailEnd type="diamond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8438" name="组合 21"/>
          <p:cNvGrpSpPr/>
          <p:nvPr/>
        </p:nvGrpSpPr>
        <p:grpSpPr bwMode="auto">
          <a:xfrm>
            <a:off x="4866561" y="4165600"/>
            <a:ext cx="3069431" cy="528638"/>
            <a:chOff x="0" y="5691345"/>
            <a:chExt cx="4093000" cy="704850"/>
          </a:xfrm>
        </p:grpSpPr>
        <p:sp>
          <p:nvSpPr>
            <p:cNvPr id="9224" name="Freeform 5"/>
            <p:cNvSpPr/>
            <p:nvPr/>
          </p:nvSpPr>
          <p:spPr bwMode="auto">
            <a:xfrm>
              <a:off x="336585" y="5691345"/>
              <a:ext cx="3756415" cy="704850"/>
            </a:xfrm>
            <a:custGeom>
              <a:avLst/>
              <a:gdLst>
                <a:gd name="T0" fmla="*/ 2147483646 w 4864"/>
                <a:gd name="T1" fmla="*/ 2147483646 h 769"/>
                <a:gd name="T2" fmla="*/ 2147483646 w 4864"/>
                <a:gd name="T3" fmla="*/ 2147483646 h 769"/>
                <a:gd name="T4" fmla="*/ 2147483646 w 4864"/>
                <a:gd name="T5" fmla="*/ 2147483646 h 769"/>
                <a:gd name="T6" fmla="*/ 2147483646 w 4864"/>
                <a:gd name="T7" fmla="*/ 2147483646 h 769"/>
                <a:gd name="T8" fmla="*/ 2147483646 w 4864"/>
                <a:gd name="T9" fmla="*/ 2147483646 h 769"/>
                <a:gd name="T10" fmla="*/ 2147483646 w 4864"/>
                <a:gd name="T11" fmla="*/ 2147483646 h 769"/>
                <a:gd name="T12" fmla="*/ 2147483646 w 4864"/>
                <a:gd name="T13" fmla="*/ 2147483646 h 769"/>
                <a:gd name="T14" fmla="*/ 2147483646 w 4864"/>
                <a:gd name="T15" fmla="*/ 2147483646 h 769"/>
                <a:gd name="T16" fmla="*/ 2147483646 w 4864"/>
                <a:gd name="T17" fmla="*/ 2147483646 h 769"/>
                <a:gd name="T18" fmla="*/ 2147483646 w 4864"/>
                <a:gd name="T19" fmla="*/ 2147483646 h 769"/>
                <a:gd name="T20" fmla="*/ 2147483646 w 4864"/>
                <a:gd name="T21" fmla="*/ 2147483646 h 769"/>
                <a:gd name="T22" fmla="*/ 2147483646 w 4864"/>
                <a:gd name="T23" fmla="*/ 2147483646 h 769"/>
                <a:gd name="T24" fmla="*/ 2147483646 w 4864"/>
                <a:gd name="T25" fmla="*/ 2147483646 h 769"/>
                <a:gd name="T26" fmla="*/ 2147483646 w 4864"/>
                <a:gd name="T27" fmla="*/ 2147483646 h 769"/>
                <a:gd name="T28" fmla="*/ 2147483646 w 4864"/>
                <a:gd name="T29" fmla="*/ 2147483646 h 769"/>
                <a:gd name="T30" fmla="*/ 2147483646 w 4864"/>
                <a:gd name="T31" fmla="*/ 2147483646 h 769"/>
                <a:gd name="T32" fmla="*/ 2147483646 w 4864"/>
                <a:gd name="T33" fmla="*/ 2147483646 h 769"/>
                <a:gd name="T34" fmla="*/ 2147483646 w 4864"/>
                <a:gd name="T35" fmla="*/ 2147483646 h 769"/>
                <a:gd name="T36" fmla="*/ 2147483646 w 4864"/>
                <a:gd name="T37" fmla="*/ 2147483646 h 769"/>
                <a:gd name="T38" fmla="*/ 2147483646 w 4864"/>
                <a:gd name="T39" fmla="*/ 2147483646 h 769"/>
                <a:gd name="T40" fmla="*/ 2147483646 w 4864"/>
                <a:gd name="T41" fmla="*/ 2147483646 h 769"/>
                <a:gd name="T42" fmla="*/ 2147483646 w 4864"/>
                <a:gd name="T43" fmla="*/ 2147483646 h 769"/>
                <a:gd name="T44" fmla="*/ 2147483646 w 4864"/>
                <a:gd name="T45" fmla="*/ 2147483646 h 769"/>
                <a:gd name="T46" fmla="*/ 2147483646 w 4864"/>
                <a:gd name="T47" fmla="*/ 2147483646 h 769"/>
                <a:gd name="T48" fmla="*/ 2147483646 w 4864"/>
                <a:gd name="T49" fmla="*/ 2147483646 h 769"/>
                <a:gd name="T50" fmla="*/ 2147483646 w 4864"/>
                <a:gd name="T51" fmla="*/ 2147483646 h 769"/>
                <a:gd name="T52" fmla="*/ 2147483646 w 4864"/>
                <a:gd name="T53" fmla="*/ 2147483646 h 769"/>
                <a:gd name="T54" fmla="*/ 2147483646 w 4864"/>
                <a:gd name="T55" fmla="*/ 2147483646 h 769"/>
                <a:gd name="T56" fmla="*/ 2147483646 w 4864"/>
                <a:gd name="T57" fmla="*/ 2147483646 h 769"/>
                <a:gd name="T58" fmla="*/ 2147483646 w 4864"/>
                <a:gd name="T59" fmla="*/ 2147483646 h 769"/>
                <a:gd name="T60" fmla="*/ 2147483646 w 4864"/>
                <a:gd name="T61" fmla="*/ 2147483646 h 769"/>
                <a:gd name="T62" fmla="*/ 2147483646 w 4864"/>
                <a:gd name="T63" fmla="*/ 2147483646 h 769"/>
                <a:gd name="T64" fmla="*/ 2147483646 w 4864"/>
                <a:gd name="T65" fmla="*/ 2147483646 h 769"/>
                <a:gd name="T66" fmla="*/ 2147483646 w 4864"/>
                <a:gd name="T67" fmla="*/ 2147483646 h 769"/>
                <a:gd name="T68" fmla="*/ 2147483646 w 4864"/>
                <a:gd name="T69" fmla="*/ 2147483646 h 769"/>
                <a:gd name="T70" fmla="*/ 2147483646 w 4864"/>
                <a:gd name="T71" fmla="*/ 2147483646 h 769"/>
                <a:gd name="T72" fmla="*/ 2147483646 w 4864"/>
                <a:gd name="T73" fmla="*/ 2147483646 h 76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864" h="769">
                  <a:moveTo>
                    <a:pt x="306" y="4"/>
                  </a:moveTo>
                  <a:cubicBezTo>
                    <a:pt x="265" y="21"/>
                    <a:pt x="307" y="25"/>
                    <a:pt x="266" y="42"/>
                  </a:cubicBezTo>
                  <a:cubicBezTo>
                    <a:pt x="228" y="27"/>
                    <a:pt x="225" y="21"/>
                    <a:pt x="167" y="42"/>
                  </a:cubicBezTo>
                  <a:cubicBezTo>
                    <a:pt x="141" y="52"/>
                    <a:pt x="142" y="90"/>
                    <a:pt x="107" y="103"/>
                  </a:cubicBezTo>
                  <a:cubicBezTo>
                    <a:pt x="84" y="130"/>
                    <a:pt x="69" y="156"/>
                    <a:pt x="46" y="182"/>
                  </a:cubicBezTo>
                  <a:cubicBezTo>
                    <a:pt x="53" y="188"/>
                    <a:pt x="61" y="196"/>
                    <a:pt x="69" y="200"/>
                  </a:cubicBezTo>
                  <a:cubicBezTo>
                    <a:pt x="76" y="204"/>
                    <a:pt x="94" y="200"/>
                    <a:pt x="91" y="209"/>
                  </a:cubicBezTo>
                  <a:cubicBezTo>
                    <a:pt x="89" y="218"/>
                    <a:pt x="47" y="232"/>
                    <a:pt x="38" y="235"/>
                  </a:cubicBezTo>
                  <a:cubicBezTo>
                    <a:pt x="20" y="298"/>
                    <a:pt x="37" y="278"/>
                    <a:pt x="0" y="306"/>
                  </a:cubicBezTo>
                  <a:cubicBezTo>
                    <a:pt x="5" y="314"/>
                    <a:pt x="11" y="322"/>
                    <a:pt x="15" y="332"/>
                  </a:cubicBezTo>
                  <a:cubicBezTo>
                    <a:pt x="27" y="345"/>
                    <a:pt x="65" y="366"/>
                    <a:pt x="69" y="385"/>
                  </a:cubicBezTo>
                  <a:cubicBezTo>
                    <a:pt x="71" y="398"/>
                    <a:pt x="28" y="428"/>
                    <a:pt x="38" y="447"/>
                  </a:cubicBezTo>
                  <a:cubicBezTo>
                    <a:pt x="28" y="480"/>
                    <a:pt x="110" y="494"/>
                    <a:pt x="129" y="499"/>
                  </a:cubicBezTo>
                  <a:cubicBezTo>
                    <a:pt x="157" y="521"/>
                    <a:pt x="162" y="579"/>
                    <a:pt x="198" y="587"/>
                  </a:cubicBezTo>
                  <a:cubicBezTo>
                    <a:pt x="275" y="607"/>
                    <a:pt x="321" y="631"/>
                    <a:pt x="400" y="635"/>
                  </a:cubicBezTo>
                  <a:cubicBezTo>
                    <a:pt x="471" y="643"/>
                    <a:pt x="513" y="654"/>
                    <a:pt x="568" y="655"/>
                  </a:cubicBezTo>
                  <a:cubicBezTo>
                    <a:pt x="628" y="661"/>
                    <a:pt x="700" y="664"/>
                    <a:pt x="760" y="671"/>
                  </a:cubicBezTo>
                  <a:cubicBezTo>
                    <a:pt x="817" y="693"/>
                    <a:pt x="869" y="677"/>
                    <a:pt x="928" y="699"/>
                  </a:cubicBezTo>
                  <a:cubicBezTo>
                    <a:pt x="1070" y="753"/>
                    <a:pt x="1355" y="693"/>
                    <a:pt x="1355" y="693"/>
                  </a:cubicBezTo>
                  <a:cubicBezTo>
                    <a:pt x="1539" y="731"/>
                    <a:pt x="1520" y="737"/>
                    <a:pt x="1751" y="746"/>
                  </a:cubicBezTo>
                  <a:cubicBezTo>
                    <a:pt x="1912" y="769"/>
                    <a:pt x="1924" y="727"/>
                    <a:pt x="2228" y="743"/>
                  </a:cubicBezTo>
                  <a:cubicBezTo>
                    <a:pt x="2298" y="752"/>
                    <a:pt x="2337" y="736"/>
                    <a:pt x="2388" y="739"/>
                  </a:cubicBezTo>
                  <a:cubicBezTo>
                    <a:pt x="2439" y="742"/>
                    <a:pt x="2496" y="758"/>
                    <a:pt x="2535" y="762"/>
                  </a:cubicBezTo>
                  <a:cubicBezTo>
                    <a:pt x="2574" y="766"/>
                    <a:pt x="2586" y="753"/>
                    <a:pt x="2624" y="761"/>
                  </a:cubicBezTo>
                  <a:cubicBezTo>
                    <a:pt x="2654" y="767"/>
                    <a:pt x="2674" y="747"/>
                    <a:pt x="2710" y="746"/>
                  </a:cubicBezTo>
                  <a:cubicBezTo>
                    <a:pt x="2816" y="740"/>
                    <a:pt x="2923" y="740"/>
                    <a:pt x="3030" y="737"/>
                  </a:cubicBezTo>
                  <a:cubicBezTo>
                    <a:pt x="3165" y="698"/>
                    <a:pt x="3192" y="700"/>
                    <a:pt x="3372" y="693"/>
                  </a:cubicBezTo>
                  <a:cubicBezTo>
                    <a:pt x="3491" y="677"/>
                    <a:pt x="3585" y="649"/>
                    <a:pt x="3707" y="640"/>
                  </a:cubicBezTo>
                  <a:cubicBezTo>
                    <a:pt x="3778" y="612"/>
                    <a:pt x="3647" y="661"/>
                    <a:pt x="3814" y="623"/>
                  </a:cubicBezTo>
                  <a:cubicBezTo>
                    <a:pt x="3939" y="593"/>
                    <a:pt x="3882" y="589"/>
                    <a:pt x="4057" y="579"/>
                  </a:cubicBezTo>
                  <a:cubicBezTo>
                    <a:pt x="4154" y="551"/>
                    <a:pt x="4197" y="549"/>
                    <a:pt x="4316" y="543"/>
                  </a:cubicBezTo>
                  <a:cubicBezTo>
                    <a:pt x="4293" y="535"/>
                    <a:pt x="4233" y="529"/>
                    <a:pt x="4225" y="526"/>
                  </a:cubicBezTo>
                  <a:cubicBezTo>
                    <a:pt x="4217" y="523"/>
                    <a:pt x="4240" y="518"/>
                    <a:pt x="4247" y="517"/>
                  </a:cubicBezTo>
                  <a:cubicBezTo>
                    <a:pt x="4275" y="513"/>
                    <a:pt x="4303" y="511"/>
                    <a:pt x="4331" y="508"/>
                  </a:cubicBezTo>
                  <a:cubicBezTo>
                    <a:pt x="4303" y="505"/>
                    <a:pt x="4275" y="504"/>
                    <a:pt x="4247" y="499"/>
                  </a:cubicBezTo>
                  <a:cubicBezTo>
                    <a:pt x="4240" y="498"/>
                    <a:pt x="4221" y="499"/>
                    <a:pt x="4225" y="491"/>
                  </a:cubicBezTo>
                  <a:cubicBezTo>
                    <a:pt x="4230" y="480"/>
                    <a:pt x="4245" y="485"/>
                    <a:pt x="4255" y="482"/>
                  </a:cubicBezTo>
                  <a:cubicBezTo>
                    <a:pt x="4318" y="494"/>
                    <a:pt x="4297" y="507"/>
                    <a:pt x="4346" y="526"/>
                  </a:cubicBezTo>
                  <a:cubicBezTo>
                    <a:pt x="4398" y="511"/>
                    <a:pt x="4453" y="470"/>
                    <a:pt x="4506" y="464"/>
                  </a:cubicBezTo>
                  <a:cubicBezTo>
                    <a:pt x="4552" y="460"/>
                    <a:pt x="4598" y="458"/>
                    <a:pt x="4643" y="455"/>
                  </a:cubicBezTo>
                  <a:cubicBezTo>
                    <a:pt x="4690" y="420"/>
                    <a:pt x="4742" y="423"/>
                    <a:pt x="4795" y="411"/>
                  </a:cubicBezTo>
                  <a:cubicBezTo>
                    <a:pt x="4834" y="382"/>
                    <a:pt x="4813" y="403"/>
                    <a:pt x="4849" y="341"/>
                  </a:cubicBezTo>
                  <a:cubicBezTo>
                    <a:pt x="4854" y="332"/>
                    <a:pt x="4864" y="314"/>
                    <a:pt x="4864" y="314"/>
                  </a:cubicBezTo>
                  <a:cubicBezTo>
                    <a:pt x="4803" y="279"/>
                    <a:pt x="4742" y="285"/>
                    <a:pt x="4674" y="279"/>
                  </a:cubicBezTo>
                  <a:cubicBezTo>
                    <a:pt x="4490" y="287"/>
                    <a:pt x="4499" y="279"/>
                    <a:pt x="4384" y="306"/>
                  </a:cubicBezTo>
                  <a:cubicBezTo>
                    <a:pt x="4293" y="303"/>
                    <a:pt x="4202" y="303"/>
                    <a:pt x="4110" y="297"/>
                  </a:cubicBezTo>
                  <a:cubicBezTo>
                    <a:pt x="4103" y="297"/>
                    <a:pt x="4126" y="288"/>
                    <a:pt x="4133" y="288"/>
                  </a:cubicBezTo>
                  <a:cubicBezTo>
                    <a:pt x="4187" y="288"/>
                    <a:pt x="4240" y="294"/>
                    <a:pt x="4293" y="297"/>
                  </a:cubicBezTo>
                  <a:cubicBezTo>
                    <a:pt x="4391" y="282"/>
                    <a:pt x="4444" y="268"/>
                    <a:pt x="4552" y="262"/>
                  </a:cubicBezTo>
                  <a:cubicBezTo>
                    <a:pt x="4601" y="247"/>
                    <a:pt x="4610" y="232"/>
                    <a:pt x="4651" y="200"/>
                  </a:cubicBezTo>
                  <a:cubicBezTo>
                    <a:pt x="4609" y="188"/>
                    <a:pt x="4562" y="193"/>
                    <a:pt x="4521" y="174"/>
                  </a:cubicBezTo>
                  <a:cubicBezTo>
                    <a:pt x="4514" y="171"/>
                    <a:pt x="4516" y="156"/>
                    <a:pt x="4514" y="147"/>
                  </a:cubicBezTo>
                  <a:cubicBezTo>
                    <a:pt x="4141" y="166"/>
                    <a:pt x="4291" y="156"/>
                    <a:pt x="4065" y="174"/>
                  </a:cubicBezTo>
                  <a:cubicBezTo>
                    <a:pt x="4015" y="182"/>
                    <a:pt x="3972" y="194"/>
                    <a:pt x="3920" y="174"/>
                  </a:cubicBezTo>
                  <a:cubicBezTo>
                    <a:pt x="3911" y="171"/>
                    <a:pt x="3935" y="160"/>
                    <a:pt x="3943" y="156"/>
                  </a:cubicBezTo>
                  <a:cubicBezTo>
                    <a:pt x="3951" y="152"/>
                    <a:pt x="3958" y="150"/>
                    <a:pt x="3966" y="147"/>
                  </a:cubicBezTo>
                  <a:cubicBezTo>
                    <a:pt x="3918" y="110"/>
                    <a:pt x="3968" y="135"/>
                    <a:pt x="3935" y="77"/>
                  </a:cubicBezTo>
                  <a:cubicBezTo>
                    <a:pt x="3812" y="86"/>
                    <a:pt x="3702" y="113"/>
                    <a:pt x="3578" y="121"/>
                  </a:cubicBezTo>
                  <a:cubicBezTo>
                    <a:pt x="3524" y="128"/>
                    <a:pt x="3477" y="135"/>
                    <a:pt x="3425" y="156"/>
                  </a:cubicBezTo>
                  <a:cubicBezTo>
                    <a:pt x="3342" y="188"/>
                    <a:pt x="3248" y="162"/>
                    <a:pt x="3159" y="165"/>
                  </a:cubicBezTo>
                  <a:cubicBezTo>
                    <a:pt x="2928" y="254"/>
                    <a:pt x="2813" y="169"/>
                    <a:pt x="2544" y="191"/>
                  </a:cubicBezTo>
                  <a:cubicBezTo>
                    <a:pt x="2445" y="200"/>
                    <a:pt x="2305" y="198"/>
                    <a:pt x="2260" y="187"/>
                  </a:cubicBezTo>
                  <a:cubicBezTo>
                    <a:pt x="2172" y="153"/>
                    <a:pt x="2149" y="194"/>
                    <a:pt x="2056" y="195"/>
                  </a:cubicBezTo>
                  <a:cubicBezTo>
                    <a:pt x="1964" y="187"/>
                    <a:pt x="1913" y="188"/>
                    <a:pt x="1880" y="175"/>
                  </a:cubicBezTo>
                  <a:cubicBezTo>
                    <a:pt x="1790" y="181"/>
                    <a:pt x="1677" y="212"/>
                    <a:pt x="1591" y="191"/>
                  </a:cubicBezTo>
                  <a:cubicBezTo>
                    <a:pt x="1548" y="181"/>
                    <a:pt x="1503" y="186"/>
                    <a:pt x="1460" y="175"/>
                  </a:cubicBezTo>
                  <a:cubicBezTo>
                    <a:pt x="1435" y="185"/>
                    <a:pt x="1426" y="155"/>
                    <a:pt x="1401" y="165"/>
                  </a:cubicBezTo>
                  <a:cubicBezTo>
                    <a:pt x="1252" y="156"/>
                    <a:pt x="1118" y="135"/>
                    <a:pt x="967" y="130"/>
                  </a:cubicBezTo>
                  <a:cubicBezTo>
                    <a:pt x="926" y="125"/>
                    <a:pt x="836" y="116"/>
                    <a:pt x="799" y="103"/>
                  </a:cubicBezTo>
                  <a:cubicBezTo>
                    <a:pt x="798" y="103"/>
                    <a:pt x="754" y="62"/>
                    <a:pt x="746" y="59"/>
                  </a:cubicBezTo>
                  <a:cubicBezTo>
                    <a:pt x="686" y="39"/>
                    <a:pt x="609" y="39"/>
                    <a:pt x="548" y="33"/>
                  </a:cubicBezTo>
                  <a:cubicBezTo>
                    <a:pt x="523" y="22"/>
                    <a:pt x="497" y="17"/>
                    <a:pt x="472" y="6"/>
                  </a:cubicBezTo>
                  <a:cubicBezTo>
                    <a:pt x="441" y="9"/>
                    <a:pt x="411" y="11"/>
                    <a:pt x="381" y="15"/>
                  </a:cubicBezTo>
                  <a:cubicBezTo>
                    <a:pt x="353" y="15"/>
                    <a:pt x="325" y="0"/>
                    <a:pt x="306" y="4"/>
                  </a:cubicBezTo>
                  <a:close/>
                </a:path>
              </a:pathLst>
            </a:custGeom>
            <a:gradFill>
              <a:gsLst>
                <a:gs pos="0">
                  <a:srgbClr val="56A0B9"/>
                </a:gs>
                <a:gs pos="100000">
                  <a:srgbClr val="5DBDC3"/>
                </a:gs>
              </a:gsLst>
              <a:lin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24" name="平行四边形 23"/>
            <p:cNvSpPr/>
            <p:nvPr/>
          </p:nvSpPr>
          <p:spPr>
            <a:xfrm>
              <a:off x="0" y="5856445"/>
              <a:ext cx="3970749" cy="446088"/>
            </a:xfrm>
            <a:prstGeom prst="parallelogram">
              <a:avLst>
                <a:gd name="adj" fmla="val 4630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娃娃体-简" panose="040B0500000000000000" charset="-122"/>
                  <a:ea typeface="娃娃体-简" panose="040B0500000000000000" charset="-122"/>
                  <a:cs typeface="娃娃体-简" panose="040B0500000000000000" charset="-122"/>
                </a:rPr>
                <a:t>AI</a:t>
              </a:r>
              <a:r>
                <a:rPr lang="zh-CN" altLang="en-US" sz="1400" b="1">
                  <a:solidFill>
                    <a:prstClr val="white"/>
                  </a:solidFill>
                  <a:latin typeface="娃娃体-简" panose="040B0500000000000000" charset="-122"/>
                  <a:ea typeface="娃娃体-简" panose="040B0500000000000000" charset="-122"/>
                  <a:cs typeface="娃娃体-简" panose="040B0500000000000000" charset="-122"/>
                </a:rPr>
                <a:t>大</a:t>
              </a:r>
              <a:r>
                <a:rPr lang="zh-CN" altLang="en-US" sz="1400" b="1" smtClean="0">
                  <a:solidFill>
                    <a:prstClr val="white"/>
                  </a:solidFill>
                  <a:latin typeface="娃娃体-简" panose="040B0500000000000000" charset="-122"/>
                  <a:ea typeface="娃娃体-简" panose="040B0500000000000000" charset="-122"/>
                  <a:cs typeface="娃娃体-简" panose="040B0500000000000000" charset="-122"/>
                </a:rPr>
                <a:t>模型课程组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娃娃体-简" panose="040B0500000000000000" charset="-122"/>
                <a:ea typeface="娃娃体-简" panose="040B0500000000000000" charset="-122"/>
                <a:cs typeface="娃娃体-简" panose="040B0500000000000000" charset="-122"/>
              </a:endParaRPr>
            </a:p>
          </p:txBody>
        </p:sp>
      </p:grpSp>
      <p:pic>
        <p:nvPicPr>
          <p:cNvPr id="18439" name="图片 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194" y="33338"/>
            <a:ext cx="3564731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402080" y="64770"/>
            <a:ext cx="2937510" cy="601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" y="-206"/>
            <a:ext cx="1547336" cy="35961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6620" y="1380490"/>
            <a:ext cx="2399030" cy="6019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7270" y="1071245"/>
            <a:ext cx="1424940" cy="9880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9315" y="1023620"/>
            <a:ext cx="1417955" cy="1016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4" b="55436"/>
          <a:stretch>
            <a:fillRect/>
          </a:stretch>
        </p:blipFill>
        <p:spPr>
          <a:xfrm>
            <a:off x="455295" y="342265"/>
            <a:ext cx="2531745" cy="2593340"/>
          </a:xfrm>
          <a:prstGeom prst="rect">
            <a:avLst/>
          </a:prstGeom>
        </p:spPr>
      </p:pic>
      <p:pic>
        <p:nvPicPr>
          <p:cNvPr id="15" name="图片 14" descr="logo_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758950" y="33655"/>
            <a:ext cx="2476500" cy="28702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/>
          <p:cNvSpPr txBox="1"/>
          <p:nvPr/>
        </p:nvSpPr>
        <p:spPr>
          <a:xfrm>
            <a:off x="1605542" y="1324079"/>
            <a:ext cx="492443" cy="2946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eaVert" wrap="square" rtlCol="0">
            <a:spAutoFit/>
          </a:bodyPr>
          <a:lstStyle/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defRPr/>
            </a:pPr>
            <a:r>
              <a:rPr kumimoji="0" lang="zh-CN" altLang="en-US" sz="2000" b="1" i="0" u="none" strike="noStrike" kern="1200" cap="none" spc="30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olas" pitchFamily="49" charset="0"/>
                <a:ea typeface="华文中宋" pitchFamily="2" charset="-122"/>
                <a:cs typeface="Consolas" pitchFamily="49" charset="0"/>
              </a:rPr>
              <a:t>课程主要部分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5438" y="1142853"/>
            <a:ext cx="57074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Blip>
                <a:blip r:embed="rId4"/>
              </a:buBlip>
              <a:defRPr/>
            </a:pPr>
            <a:r>
              <a:rPr lang="en-US" altLang="zh-CN" sz="2800" b="1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01 </a:t>
            </a:r>
            <a:r>
              <a:rPr lang="zh-CN" altLang="en-US" sz="2800" b="1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理解代码</a:t>
            </a:r>
            <a:endParaRPr lang="en-US" altLang="zh-CN" sz="2800" b="1" smtClean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Blip>
                <a:blip r:embed="rId4"/>
              </a:buBlip>
              <a:defRPr/>
            </a:pP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02</a:t>
            </a:r>
            <a:r>
              <a:rPr kumimoji="0" lang="en-US" altLang="zh-CN" sz="2800" b="1" i="0" u="none" strike="noStrike" kern="1200" cap="none" spc="0" normalizeH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Ralph-mode</a:t>
            </a:r>
            <a:endParaRPr kumimoji="0" lang="en-US" altLang="zh-CN" sz="2800" b="1" i="0" u="none" strike="noStrike" kern="1200" cap="none" spc="0" normalizeH="0" baseline="0" noProof="0" smtClean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Blip>
                <a:blip r:embed="rId4"/>
              </a:buBlip>
              <a:defRPr/>
            </a:pPr>
            <a:r>
              <a:rPr lang="en-US" altLang="zh-CN" sz="2800" b="1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03 agent</a:t>
            </a:r>
            <a:r>
              <a:rPr lang="zh-CN" altLang="en-US" sz="2800" b="1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支持</a:t>
            </a:r>
            <a:r>
              <a:rPr lang="en-US" altLang="zh-CN" sz="2800" b="1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skill</a:t>
            </a:r>
            <a:endParaRPr lang="en-US" altLang="zh-CN" sz="2800" b="1" smtClean="0">
              <a:solidFill>
                <a:srgbClr val="3333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lvl="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Blip>
                <a:blip r:embed="rId4"/>
              </a:buBlip>
              <a:defRPr/>
            </a:pP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04</a:t>
            </a:r>
            <a:r>
              <a:rPr kumimoji="0" lang="en-US" altLang="zh-CN" sz="2800" b="1" i="0" u="none" strike="noStrike" kern="1200" cap="none" spc="0" normalizeH="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nvwa skill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8" name="灯片编号占位符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CB2BE83-1AD7-4D57-BED4-A5A7924D4FB7}" type="slidenum"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</a:rPr>
              <a:t>2</a:t>
            </a:fld>
            <a: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</a:rPr>
              <a:t>/50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4" b="55436"/>
          <a:stretch>
            <a:fillRect/>
          </a:stretch>
        </p:blipFill>
        <p:spPr>
          <a:xfrm>
            <a:off x="21590" y="-46355"/>
            <a:ext cx="802005" cy="821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20115" y="194945"/>
            <a:ext cx="2787650" cy="398780"/>
          </a:xfrm>
          <a:prstGeom prst="rect">
            <a:avLst/>
          </a:prstGeom>
          <a:gradFill>
            <a:gsLst>
              <a:gs pos="50000">
                <a:srgbClr val="CCE8EA"/>
              </a:gs>
              <a:gs pos="0">
                <a:srgbClr val="DDF0F1"/>
              </a:gs>
              <a:gs pos="100000">
                <a:srgbClr val="BAE0E2"/>
              </a:gs>
            </a:gsLst>
            <a:lin scaled="1"/>
          </a:gradFill>
        </p:spPr>
        <p:txBody>
          <a:bodyPr wrap="non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zh-CN" altLang="en-US" b="1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理解代码</a:t>
            </a:r>
            <a:endParaRPr kumimoji="1" lang="zh-CN" altLang="en-US" b="1" spc="30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4" b="55436"/>
          <a:stretch>
            <a:fillRect/>
          </a:stretch>
        </p:blipFill>
        <p:spPr>
          <a:xfrm>
            <a:off x="21590" y="-46355"/>
            <a:ext cx="802005" cy="82169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98707" y="1120132"/>
            <a:ext cx="71706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400" b="0" smtClean="0">
              <a:effectLst/>
              <a:latin typeface="Consolas" panose="020B0609020204030204" pitchFamily="49" charset="0"/>
            </a:endParaRPr>
          </a:p>
          <a:p>
            <a:endParaRPr lang="zh-CN" altLang="en-US" sz="2400" b="0">
              <a:effectLst/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30876" y="872440"/>
            <a:ext cx="782990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/>
          </a:p>
          <a:p>
            <a:r>
              <a:rPr lang="zh-CN" altLang="en-US" sz="2400" b="1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分组：</a:t>
            </a:r>
            <a:endParaRPr lang="en-US" altLang="zh-CN" sz="2400" b="1" smtClean="0"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endParaRPr lang="en-US" altLang="zh-CN" sz="2400" b="1" smtClean="0"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r>
              <a:rPr lang="zh-CN" altLang="en-US" sz="2400" b="1" smtClean="0">
                <a:latin typeface="Consolas" pitchFamily="49" charset="0"/>
                <a:ea typeface="仿宋" pitchFamily="49" charset="-122"/>
              </a:rPr>
              <a:t>阅读项目 </a:t>
            </a:r>
            <a:r>
              <a:rPr lang="en-US" altLang="zh-CN" sz="2400" b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loop</a:t>
            </a:r>
            <a:r>
              <a:rPr lang="zh-CN" altLang="en-US" sz="2400" b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sz="2400" b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llm</a:t>
            </a:r>
            <a:r>
              <a:rPr lang="zh-CN" altLang="en-US" sz="2400" b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sz="2400" b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config</a:t>
            </a:r>
            <a:r>
              <a:rPr lang="zh-CN" altLang="en-US" sz="2400" b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sz="2400" b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tools</a:t>
            </a:r>
            <a:r>
              <a:rPr lang="zh-CN" altLang="en-US" sz="2400" b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sz="2400" b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cli</a:t>
            </a:r>
            <a:r>
              <a:rPr lang="zh-CN" altLang="en-US" sz="2400" b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sz="2400" b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sesson </a:t>
            </a:r>
            <a:r>
              <a:rPr lang="zh-CN" altLang="en-US" sz="2400" b="1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部分的代码，上台讲解代码主要功能和逻辑</a:t>
            </a:r>
            <a:endParaRPr lang="en-US" altLang="zh-CN" sz="2400" b="1" smtClean="0"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endParaRPr lang="en-US" altLang="zh-CN" sz="2400" b="1">
              <a:latin typeface="Consolas" pitchFamily="49" charset="0"/>
              <a:ea typeface="仿宋" pitchFamily="49" charset="-122"/>
            </a:endParaRPr>
          </a:p>
          <a:p>
            <a:r>
              <a:rPr lang="zh-CN" altLang="en-US" sz="2400" b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制作</a:t>
            </a:r>
            <a:r>
              <a:rPr lang="en-US" altLang="zh-CN" sz="2400" b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5-10</a:t>
            </a:r>
            <a:r>
              <a:rPr lang="zh-CN" altLang="en-US" sz="2400" b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页</a:t>
            </a:r>
            <a:r>
              <a:rPr lang="en-US" altLang="zh-CN" sz="2400" b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ppt</a:t>
            </a:r>
            <a:r>
              <a:rPr lang="zh-CN" altLang="en-US" sz="2400" b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并上台讲解</a:t>
            </a:r>
            <a:endParaRPr lang="en-US" altLang="zh-CN" sz="2400" b="1" smtClean="0">
              <a:solidFill>
                <a:srgbClr val="FF0000"/>
              </a:solidFill>
              <a:latin typeface="Consolas" pitchFamily="49" charset="0"/>
              <a:ea typeface="仿宋" pitchFamily="49" charset="-122"/>
            </a:endParaRPr>
          </a:p>
          <a:p>
            <a:endParaRPr lang="en-US" altLang="zh-CN" sz="2400" b="1">
              <a:latin typeface="Consolas" pitchFamily="49" charset="0"/>
              <a:ea typeface="仿宋" pitchFamily="49" charset="-122"/>
            </a:endParaRPr>
          </a:p>
          <a:p>
            <a:r>
              <a:rPr lang="zh-CN" altLang="en-US" b="1" i="1" smtClean="0">
                <a:latin typeface="Consolas" pitchFamily="49" charset="0"/>
                <a:ea typeface="仿宋" pitchFamily="49" charset="-122"/>
              </a:rPr>
              <a:t>一部分小组看</a:t>
            </a:r>
            <a:r>
              <a:rPr lang="en-US" altLang="zh-CN" b="1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loop</a:t>
            </a:r>
            <a:r>
              <a:rPr lang="zh-CN" altLang="en-US" b="1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b="1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llm</a:t>
            </a:r>
            <a:r>
              <a:rPr lang="zh-CN" altLang="en-US" b="1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b="1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config</a:t>
            </a:r>
            <a:r>
              <a:rPr lang="zh-CN" altLang="en-US" b="1" i="1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，另一部分看 </a:t>
            </a:r>
            <a:r>
              <a:rPr lang="en-US" altLang="zh-CN" b="1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tools</a:t>
            </a:r>
            <a:r>
              <a:rPr lang="zh-CN" altLang="en-US" b="1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b="1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cli</a:t>
            </a:r>
            <a:r>
              <a:rPr lang="zh-CN" altLang="en-US" b="1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b="1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sesson</a:t>
            </a:r>
            <a:r>
              <a:rPr lang="en-US" altLang="zh-CN" b="1" i="1"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endParaRPr lang="en-US" altLang="zh-CN" b="1" i="1" smtClean="0">
              <a:latin typeface="Consolas" pitchFamily="49" charset="0"/>
              <a:ea typeface="仿宋" pitchFamily="49" charset="-122"/>
            </a:endParaRPr>
          </a:p>
          <a:p>
            <a:endParaRPr lang="zh-CN" altLang="en-US" sz="2400"/>
          </a:p>
        </p:txBody>
      </p:sp>
      <p:pic>
        <p:nvPicPr>
          <p:cNvPr id="8" name="Picture 2" descr="https://p4.itc.cn/q_70/images03/20220628/d511667137db41098118f4376abdeb56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837" y="-28628"/>
            <a:ext cx="2255829" cy="2255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707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20115" y="194945"/>
            <a:ext cx="2787650" cy="398780"/>
          </a:xfrm>
          <a:prstGeom prst="rect">
            <a:avLst/>
          </a:prstGeom>
          <a:gradFill>
            <a:gsLst>
              <a:gs pos="50000">
                <a:srgbClr val="CCE8EA"/>
              </a:gs>
              <a:gs pos="0">
                <a:srgbClr val="DDF0F1"/>
              </a:gs>
              <a:gs pos="100000">
                <a:srgbClr val="BAE0E2"/>
              </a:gs>
            </a:gsLst>
            <a:lin scaled="1"/>
          </a:gradFill>
        </p:spPr>
        <p:txBody>
          <a:bodyPr wrap="non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kumimoji="1" lang="en-US" altLang="zh-CN" b="1" spc="30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olas" pitchFamily="49" charset="0"/>
                <a:ea typeface="华文中宋" pitchFamily="2" charset="-122"/>
                <a:cs typeface="Consolas" pitchFamily="49" charset="0"/>
              </a:rPr>
              <a:t>RALPH-MODE skill</a:t>
            </a:r>
            <a:endParaRPr kumimoji="1" lang="zh-CN" altLang="en-US" b="1" spc="30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4" b="55436"/>
          <a:stretch>
            <a:fillRect/>
          </a:stretch>
        </p:blipFill>
        <p:spPr>
          <a:xfrm>
            <a:off x="21590" y="-46355"/>
            <a:ext cx="802005" cy="82169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98707" y="1120132"/>
            <a:ext cx="71706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400" b="0" smtClean="0">
              <a:effectLst/>
              <a:latin typeface="Consolas" panose="020B0609020204030204" pitchFamily="49" charset="0"/>
            </a:endParaRPr>
          </a:p>
          <a:p>
            <a:endParaRPr lang="zh-CN" altLang="en-US" sz="2400" b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1322" y="1746080"/>
            <a:ext cx="69286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mtClean="0">
                <a:solidFill>
                  <a:srgbClr val="FF0000"/>
                </a:solidFill>
              </a:rPr>
              <a:t>1</a:t>
            </a:r>
            <a:r>
              <a:rPr lang="zh-CN" altLang="en-US" sz="2400" smtClean="0">
                <a:solidFill>
                  <a:srgbClr val="FF0000"/>
                </a:solidFill>
              </a:rPr>
              <a:t>、安装 </a:t>
            </a:r>
            <a:r>
              <a:rPr lang="en-US" altLang="zh-CN" sz="2400" smtClean="0">
                <a:solidFill>
                  <a:srgbClr val="FF0000"/>
                </a:solidFill>
              </a:rPr>
              <a:t>RALPH-MODE skill</a:t>
            </a:r>
            <a:r>
              <a:rPr lang="zh-CN" altLang="en-US" sz="2400" smtClean="0">
                <a:solidFill>
                  <a:srgbClr val="FF0000"/>
                </a:solidFill>
              </a:rPr>
              <a:t>，并分析理解</a:t>
            </a:r>
            <a:r>
              <a:rPr lang="zh-CN" altLang="en-US" sz="2400">
                <a:solidFill>
                  <a:srgbClr val="FF0000"/>
                </a:solidFill>
              </a:rPr>
              <a:t>这个</a:t>
            </a:r>
            <a:r>
              <a:rPr lang="en-US" altLang="zh-CN" sz="2400">
                <a:solidFill>
                  <a:srgbClr val="FF0000"/>
                </a:solidFill>
              </a:rPr>
              <a:t>skill</a:t>
            </a:r>
            <a:r>
              <a:rPr lang="zh-CN" altLang="en-US" sz="2400">
                <a:solidFill>
                  <a:srgbClr val="FF0000"/>
                </a:solidFill>
              </a:rPr>
              <a:t>的</a:t>
            </a:r>
            <a:r>
              <a:rPr lang="zh-CN" altLang="en-US" sz="2400" smtClean="0">
                <a:solidFill>
                  <a:srgbClr val="FF0000"/>
                </a:solidFill>
              </a:rPr>
              <a:t>功能</a:t>
            </a:r>
            <a:endParaRPr lang="en-US" altLang="zh-CN" sz="2400" smtClean="0">
              <a:solidFill>
                <a:srgbClr val="FF0000"/>
              </a:solidFill>
            </a:endParaRPr>
          </a:p>
          <a:p>
            <a:endParaRPr lang="en-US" altLang="zh-CN" sz="2400">
              <a:solidFill>
                <a:srgbClr val="FF0000"/>
              </a:solidFill>
            </a:endParaRPr>
          </a:p>
          <a:p>
            <a:r>
              <a:rPr lang="zh-CN" altLang="en-US" sz="2400"/>
              <a:t>截图发到群里，</a:t>
            </a:r>
            <a:r>
              <a:rPr lang="zh-CN" altLang="en-US" sz="2400" smtClean="0"/>
              <a:t>老师点同学进行回答</a:t>
            </a:r>
            <a:endParaRPr lang="en-US" altLang="zh-CN" sz="2400" smtClean="0"/>
          </a:p>
          <a:p>
            <a:endParaRPr lang="en-US" altLang="zh-CN" sz="240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2898" y="176904"/>
            <a:ext cx="1628530" cy="169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81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20115" y="194945"/>
            <a:ext cx="2787650" cy="398780"/>
          </a:xfrm>
          <a:prstGeom prst="rect">
            <a:avLst/>
          </a:prstGeom>
          <a:gradFill>
            <a:gsLst>
              <a:gs pos="50000">
                <a:srgbClr val="CCE8EA"/>
              </a:gs>
              <a:gs pos="0">
                <a:srgbClr val="DDF0F1"/>
              </a:gs>
              <a:gs pos="100000">
                <a:srgbClr val="BAE0E2"/>
              </a:gs>
            </a:gsLst>
            <a:lin scaled="1"/>
          </a:gradFill>
        </p:spPr>
        <p:txBody>
          <a:bodyPr wrap="non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kumimoji="1" lang="en-US" altLang="zh-CN" b="1" spc="30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olas" pitchFamily="49" charset="0"/>
                <a:ea typeface="华文中宋" pitchFamily="2" charset="-122"/>
                <a:cs typeface="Consolas" pitchFamily="49" charset="0"/>
              </a:rPr>
              <a:t>RALPH-MODE skill</a:t>
            </a:r>
            <a:endParaRPr kumimoji="1" lang="zh-CN" altLang="en-US" b="1" spc="30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4" b="55436"/>
          <a:stretch>
            <a:fillRect/>
          </a:stretch>
        </p:blipFill>
        <p:spPr>
          <a:xfrm>
            <a:off x="21590" y="-46355"/>
            <a:ext cx="802005" cy="82169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98707" y="1120132"/>
            <a:ext cx="71706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400" b="0" smtClean="0">
              <a:effectLst/>
              <a:latin typeface="Consolas" panose="020B0609020204030204" pitchFamily="49" charset="0"/>
            </a:endParaRPr>
          </a:p>
          <a:p>
            <a:endParaRPr lang="zh-CN" altLang="en-US" sz="2400" b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9736" y="1120132"/>
            <a:ext cx="69286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请用</a:t>
            </a:r>
            <a:r>
              <a:rPr lang="en-US" altLang="zh-CN" sz="2400"/>
              <a:t>python </a:t>
            </a:r>
            <a:r>
              <a:rPr lang="zh-CN" altLang="en-US" sz="2400"/>
              <a:t>实现一个学生</a:t>
            </a:r>
            <a:r>
              <a:rPr lang="zh-CN" altLang="en-US" sz="2400">
                <a:solidFill>
                  <a:srgbClr val="FF0000"/>
                </a:solidFill>
              </a:rPr>
              <a:t>成绩统计</a:t>
            </a:r>
            <a:r>
              <a:rPr lang="zh-CN" altLang="en-US" sz="2400"/>
              <a:t>功能。</a:t>
            </a:r>
          </a:p>
          <a:p>
            <a:r>
              <a:rPr lang="zh-CN" altLang="en-US" sz="2400"/>
              <a:t>需求：输入一个分数列表，输出平均分、最高分、最低分、是否有人不及格。</a:t>
            </a:r>
          </a:p>
          <a:p>
            <a:r>
              <a:rPr lang="zh-CN" altLang="en-US" sz="2400"/>
              <a:t>要求：</a:t>
            </a:r>
          </a:p>
          <a:p>
            <a:endParaRPr lang="zh-CN" altLang="en-US" sz="2400"/>
          </a:p>
          <a:p>
            <a:r>
              <a:rPr lang="en-US" altLang="zh-CN" sz="2400"/>
              <a:t>1</a:t>
            </a:r>
            <a:r>
              <a:rPr lang="zh-CN" altLang="en-US" sz="2400"/>
              <a:t>、代码结构清晰</a:t>
            </a:r>
          </a:p>
          <a:p>
            <a:r>
              <a:rPr lang="en-US" altLang="zh-CN" sz="2400"/>
              <a:t>2</a:t>
            </a:r>
            <a:r>
              <a:rPr lang="zh-CN" altLang="en-US" sz="2400"/>
              <a:t>、写单元测试</a:t>
            </a:r>
          </a:p>
          <a:p>
            <a:r>
              <a:rPr lang="en-US" altLang="zh-CN" sz="2400"/>
              <a:t>3</a:t>
            </a:r>
            <a:r>
              <a:rPr lang="zh-CN" altLang="en-US" sz="2400"/>
              <a:t>、处理空列表输入</a:t>
            </a:r>
          </a:p>
          <a:p>
            <a:r>
              <a:rPr lang="en-US" altLang="zh-CN" sz="2400"/>
              <a:t>4</a:t>
            </a:r>
            <a:r>
              <a:rPr lang="zh-CN" altLang="en-US" sz="2400"/>
              <a:t>、测试全部通过后再结束</a:t>
            </a:r>
            <a:endParaRPr lang="en-US" altLang="zh-CN" sz="2400"/>
          </a:p>
        </p:txBody>
      </p:sp>
    </p:spTree>
    <p:extLst>
      <p:ext uri="{BB962C8B-B14F-4D97-AF65-F5344CB8AC3E}">
        <p14:creationId xmlns:p14="http://schemas.microsoft.com/office/powerpoint/2010/main" val="38919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20115" y="194945"/>
            <a:ext cx="2787650" cy="398780"/>
          </a:xfrm>
          <a:prstGeom prst="rect">
            <a:avLst/>
          </a:prstGeom>
          <a:gradFill>
            <a:gsLst>
              <a:gs pos="50000">
                <a:srgbClr val="CCE8EA"/>
              </a:gs>
              <a:gs pos="0">
                <a:srgbClr val="DDF0F1"/>
              </a:gs>
              <a:gs pos="100000">
                <a:srgbClr val="BAE0E2"/>
              </a:gs>
            </a:gsLst>
            <a:lin scaled="1"/>
          </a:gradFill>
        </p:spPr>
        <p:txBody>
          <a:bodyPr wrap="non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kumimoji="1" lang="en-US" altLang="zh-CN" b="1" spc="30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olas" pitchFamily="49" charset="0"/>
                <a:ea typeface="华文中宋" pitchFamily="2" charset="-122"/>
                <a:cs typeface="Consolas" pitchFamily="49" charset="0"/>
              </a:rPr>
              <a:t>RALPH-MODE skill</a:t>
            </a:r>
            <a:endParaRPr kumimoji="1" lang="zh-CN" altLang="en-US" b="1" spc="30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4" b="55436"/>
          <a:stretch>
            <a:fillRect/>
          </a:stretch>
        </p:blipFill>
        <p:spPr>
          <a:xfrm>
            <a:off x="21590" y="-46355"/>
            <a:ext cx="802005" cy="82169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98707" y="1120132"/>
            <a:ext cx="71706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400" b="0" smtClean="0">
              <a:effectLst/>
              <a:latin typeface="Consolas" panose="020B0609020204030204" pitchFamily="49" charset="0"/>
            </a:endParaRPr>
          </a:p>
          <a:p>
            <a:endParaRPr lang="zh-CN" altLang="en-US" sz="2400" b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9736" y="1023027"/>
            <a:ext cx="69286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mtClean="0">
                <a:solidFill>
                  <a:srgbClr val="FF0000"/>
                </a:solidFill>
              </a:rPr>
              <a:t>例子：</a:t>
            </a:r>
            <a:endParaRPr lang="en-US" altLang="zh-CN" sz="2400" smtClean="0">
              <a:solidFill>
                <a:srgbClr val="FF0000"/>
              </a:solidFill>
            </a:endParaRPr>
          </a:p>
          <a:p>
            <a:r>
              <a:rPr lang="en-US" altLang="zh-CN" sz="2400" smtClean="0"/>
              <a:t>python </a:t>
            </a:r>
            <a:r>
              <a:rPr lang="en-US" altLang="zh-CN" sz="2400"/>
              <a:t>score_stats.py 78 92 60 45 88</a:t>
            </a:r>
          </a:p>
          <a:p>
            <a:endParaRPr lang="en-US" altLang="zh-CN" sz="2400"/>
          </a:p>
          <a:p>
            <a:r>
              <a:rPr lang="zh-CN" altLang="en-US" sz="2400"/>
              <a:t>输出：</a:t>
            </a:r>
          </a:p>
          <a:p>
            <a:r>
              <a:rPr lang="zh-CN" altLang="en-US" sz="2400"/>
              <a:t>成绩统计结果：</a:t>
            </a:r>
          </a:p>
          <a:p>
            <a:r>
              <a:rPr lang="zh-CN" altLang="en-US" sz="2400"/>
              <a:t>平均分：</a:t>
            </a:r>
            <a:r>
              <a:rPr lang="en-US" altLang="zh-CN" sz="2400"/>
              <a:t>72.60</a:t>
            </a:r>
          </a:p>
          <a:p>
            <a:r>
              <a:rPr lang="zh-CN" altLang="en-US" sz="2400"/>
              <a:t>最高分：</a:t>
            </a:r>
            <a:r>
              <a:rPr lang="en-US" altLang="zh-CN" sz="2400"/>
              <a:t>92</a:t>
            </a:r>
          </a:p>
          <a:p>
            <a:r>
              <a:rPr lang="zh-CN" altLang="en-US" sz="2400"/>
              <a:t>最低分：</a:t>
            </a:r>
            <a:r>
              <a:rPr lang="en-US" altLang="zh-CN" sz="2400"/>
              <a:t>45</a:t>
            </a:r>
          </a:p>
          <a:p>
            <a:r>
              <a:rPr lang="zh-CN" altLang="en-US" sz="2400"/>
              <a:t>是否有人不及格：是</a:t>
            </a:r>
            <a:endParaRPr lang="en-US" altLang="zh-CN" sz="2400"/>
          </a:p>
        </p:txBody>
      </p:sp>
    </p:spTree>
    <p:extLst>
      <p:ext uri="{BB962C8B-B14F-4D97-AF65-F5344CB8AC3E}">
        <p14:creationId xmlns:p14="http://schemas.microsoft.com/office/powerpoint/2010/main" val="248073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20115" y="194945"/>
            <a:ext cx="2787650" cy="398780"/>
          </a:xfrm>
          <a:prstGeom prst="rect">
            <a:avLst/>
          </a:prstGeom>
          <a:gradFill>
            <a:gsLst>
              <a:gs pos="50000">
                <a:srgbClr val="CCE8EA"/>
              </a:gs>
              <a:gs pos="0">
                <a:srgbClr val="DDF0F1"/>
              </a:gs>
              <a:gs pos="100000">
                <a:srgbClr val="BAE0E2"/>
              </a:gs>
            </a:gsLst>
            <a:lin scaled="1"/>
          </a:gradFill>
        </p:spPr>
        <p:txBody>
          <a:bodyPr wrap="non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kumimoji="1" lang="en-US" altLang="zh-CN" b="1" spc="30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olas" pitchFamily="49" charset="0"/>
                <a:ea typeface="华文中宋" pitchFamily="2" charset="-122"/>
                <a:cs typeface="Consolas" pitchFamily="49" charset="0"/>
              </a:rPr>
              <a:t>RALPH-MODE skill</a:t>
            </a:r>
            <a:endParaRPr kumimoji="1" lang="zh-CN" altLang="en-US" b="1" spc="30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4" b="55436"/>
          <a:stretch>
            <a:fillRect/>
          </a:stretch>
        </p:blipFill>
        <p:spPr>
          <a:xfrm>
            <a:off x="21590" y="-46355"/>
            <a:ext cx="802005" cy="82169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98707" y="1120132"/>
            <a:ext cx="71706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400" b="0" smtClean="0">
              <a:effectLst/>
              <a:latin typeface="Consolas" panose="020B0609020204030204" pitchFamily="49" charset="0"/>
            </a:endParaRPr>
          </a:p>
          <a:p>
            <a:endParaRPr lang="zh-CN" altLang="en-US" sz="2400" b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8707" y="1025948"/>
            <a:ext cx="74103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mtClean="0">
                <a:solidFill>
                  <a:srgbClr val="FF0000"/>
                </a:solidFill>
              </a:rPr>
              <a:t>分组任务：</a:t>
            </a:r>
            <a:endParaRPr lang="en-US" altLang="zh-CN" sz="2400" smtClean="0">
              <a:solidFill>
                <a:srgbClr val="FF0000"/>
              </a:solidFill>
            </a:endParaRPr>
          </a:p>
          <a:p>
            <a:endParaRPr lang="en-US" altLang="zh-CN" sz="2400"/>
          </a:p>
          <a:p>
            <a:r>
              <a:rPr lang="zh-CN" altLang="en-US" sz="2400" smtClean="0"/>
              <a:t>使用</a:t>
            </a:r>
            <a:r>
              <a:rPr lang="en-US" altLang="zh-CN" sz="2400" smtClean="0"/>
              <a:t>RALPH-MODE skill</a:t>
            </a:r>
            <a:r>
              <a:rPr lang="zh-CN" altLang="en-US" sz="2400" smtClean="0"/>
              <a:t>重新在</a:t>
            </a:r>
            <a:r>
              <a:rPr lang="en-US" altLang="zh-CN" sz="2400" smtClean="0"/>
              <a:t>openclaw</a:t>
            </a:r>
            <a:r>
              <a:rPr lang="zh-CN" altLang="en-US" sz="2400" smtClean="0"/>
              <a:t>上重新实现</a:t>
            </a:r>
            <a:r>
              <a:rPr lang="zh-CN" altLang="en-US" sz="2400" smtClean="0"/>
              <a:t>：</a:t>
            </a:r>
            <a:endParaRPr lang="en-US" altLang="zh-CN" sz="2400" smtClean="0"/>
          </a:p>
          <a:p>
            <a:r>
              <a:rPr lang="en-US" altLang="zh-CN" sz="2400" smtClean="0"/>
              <a:t>1</a:t>
            </a:r>
            <a:r>
              <a:rPr lang="zh-CN" altLang="en-US" sz="2400" smtClean="0">
                <a:solidFill>
                  <a:srgbClr val="FF0000"/>
                </a:solidFill>
              </a:rPr>
              <a:t>、 </a:t>
            </a:r>
            <a:r>
              <a:rPr lang="en-US" altLang="zh-CN" sz="2400" smtClean="0">
                <a:solidFill>
                  <a:srgbClr val="FF0000"/>
                </a:solidFill>
              </a:rPr>
              <a:t>agent </a:t>
            </a:r>
            <a:r>
              <a:rPr lang="en-US" altLang="zh-CN" sz="2400" smtClean="0">
                <a:solidFill>
                  <a:srgbClr val="FF0000"/>
                </a:solidFill>
              </a:rPr>
              <a:t>loop</a:t>
            </a:r>
            <a:endParaRPr lang="en-US" altLang="zh-CN" sz="2400" smtClean="0">
              <a:solidFill>
                <a:srgbClr val="FF0000"/>
              </a:solidFill>
            </a:endParaRPr>
          </a:p>
          <a:p>
            <a:r>
              <a:rPr lang="en-US" altLang="zh-CN" sz="2400" smtClean="0"/>
              <a:t>2</a:t>
            </a:r>
            <a:r>
              <a:rPr lang="zh-CN" altLang="en-US" sz="2400" smtClean="0"/>
              <a:t>、</a:t>
            </a:r>
            <a:r>
              <a:rPr lang="zh-CN" altLang="en-US" sz="2400" smtClean="0">
                <a:solidFill>
                  <a:srgbClr val="FF0000"/>
                </a:solidFill>
              </a:rPr>
              <a:t>支持 </a:t>
            </a:r>
            <a:r>
              <a:rPr lang="en-US" altLang="zh-CN" sz="2400" smtClean="0">
                <a:solidFill>
                  <a:srgbClr val="FF0000"/>
                </a:solidFill>
              </a:rPr>
              <a:t>llm</a:t>
            </a:r>
            <a:r>
              <a:rPr lang="zh-CN" altLang="en-US" sz="2400" smtClean="0">
                <a:solidFill>
                  <a:srgbClr val="FF0000"/>
                </a:solidFill>
              </a:rPr>
              <a:t>、</a:t>
            </a:r>
            <a:r>
              <a:rPr lang="en-US" altLang="zh-CN" sz="2400" smtClean="0">
                <a:solidFill>
                  <a:srgbClr val="FF0000"/>
                </a:solidFill>
              </a:rPr>
              <a:t>tool</a:t>
            </a:r>
            <a:r>
              <a:rPr lang="zh-CN" altLang="en-US" sz="2400" smtClean="0">
                <a:solidFill>
                  <a:srgbClr val="FF0000"/>
                </a:solidFill>
              </a:rPr>
              <a:t>、</a:t>
            </a:r>
            <a:r>
              <a:rPr lang="en-US" altLang="zh-CN" sz="2400">
                <a:solidFill>
                  <a:srgbClr val="FF0000"/>
                </a:solidFill>
              </a:rPr>
              <a:t>cli</a:t>
            </a:r>
            <a:r>
              <a:rPr lang="zh-CN" altLang="en-US" sz="2400" smtClean="0">
                <a:solidFill>
                  <a:srgbClr val="FF0000"/>
                </a:solidFill>
              </a:rPr>
              <a:t>、</a:t>
            </a:r>
            <a:r>
              <a:rPr lang="en-US" altLang="zh-CN" sz="2400" smtClean="0">
                <a:solidFill>
                  <a:srgbClr val="FF0000"/>
                </a:solidFill>
              </a:rPr>
              <a:t>session</a:t>
            </a:r>
            <a:r>
              <a:rPr lang="zh-CN" altLang="en-US" sz="2400" smtClean="0">
                <a:solidFill>
                  <a:srgbClr val="FF0000"/>
                </a:solidFill>
              </a:rPr>
              <a:t>、</a:t>
            </a:r>
            <a:r>
              <a:rPr lang="en-US" altLang="zh-CN" sz="2400" smtClean="0">
                <a:solidFill>
                  <a:srgbClr val="FF0000"/>
                </a:solidFill>
              </a:rPr>
              <a:t>config</a:t>
            </a:r>
            <a:br>
              <a:rPr lang="en-US" altLang="zh-CN" sz="2400" smtClean="0">
                <a:solidFill>
                  <a:srgbClr val="FF0000"/>
                </a:solidFill>
              </a:rPr>
            </a:br>
            <a:r>
              <a:rPr lang="en-US" altLang="zh-CN" sz="2400" smtClean="0"/>
              <a:t/>
            </a:r>
            <a:br>
              <a:rPr lang="en-US" altLang="zh-CN" sz="2400" smtClean="0"/>
            </a:br>
            <a:r>
              <a:rPr lang="zh-CN" altLang="en-US" sz="2400" smtClean="0">
                <a:solidFill>
                  <a:srgbClr val="FF0000"/>
                </a:solidFill>
              </a:rPr>
              <a:t>上台展示代码并运行项目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58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20115" y="194945"/>
            <a:ext cx="2787650" cy="398780"/>
          </a:xfrm>
          <a:prstGeom prst="rect">
            <a:avLst/>
          </a:prstGeom>
          <a:gradFill>
            <a:gsLst>
              <a:gs pos="50000">
                <a:srgbClr val="CCE8EA"/>
              </a:gs>
              <a:gs pos="0">
                <a:srgbClr val="DDF0F1"/>
              </a:gs>
              <a:gs pos="100000">
                <a:srgbClr val="BAE0E2"/>
              </a:gs>
            </a:gsLst>
            <a:lin scaled="1"/>
          </a:gradFill>
        </p:spPr>
        <p:txBody>
          <a:bodyPr wrap="non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zh-CN" altLang="en-US" b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支持</a:t>
            </a:r>
            <a:r>
              <a:rPr lang="en-US" altLang="zh-CN" b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skill</a:t>
            </a:r>
            <a:endParaRPr kumimoji="1" lang="zh-CN" altLang="en-US" b="1" spc="30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4" b="55436"/>
          <a:stretch>
            <a:fillRect/>
          </a:stretch>
        </p:blipFill>
        <p:spPr>
          <a:xfrm>
            <a:off x="21590" y="-46355"/>
            <a:ext cx="802005" cy="82169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98707" y="1120132"/>
            <a:ext cx="71706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400" b="0" smtClean="0">
              <a:effectLst/>
              <a:latin typeface="Consolas" panose="020B0609020204030204" pitchFamily="49" charset="0"/>
            </a:endParaRPr>
          </a:p>
          <a:p>
            <a:endParaRPr lang="zh-CN" altLang="en-US" sz="2400" b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9520" y="1430364"/>
            <a:ext cx="56587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/>
          </a:p>
          <a:p>
            <a:r>
              <a:rPr lang="zh-CN" altLang="en-US" sz="2400" smtClean="0"/>
              <a:t>在原有项目基础上支持</a:t>
            </a:r>
            <a:r>
              <a:rPr lang="en-US" altLang="zh-CN" sz="2400" smtClean="0"/>
              <a:t>SKILL</a:t>
            </a:r>
            <a:r>
              <a:rPr lang="zh-CN" altLang="en-US" sz="2400" smtClean="0"/>
              <a:t>：</a:t>
            </a:r>
            <a:endParaRPr lang="en-US" altLang="zh-CN" sz="2400" smtClean="0"/>
          </a:p>
          <a:p>
            <a:endParaRPr lang="en-US" altLang="zh-CN" sz="2400"/>
          </a:p>
          <a:p>
            <a:r>
              <a:rPr lang="en-US" altLang="zh-CN" sz="2400">
                <a:solidFill>
                  <a:srgbClr val="FF0000"/>
                </a:solidFill>
              </a:rPr>
              <a:t>1</a:t>
            </a:r>
            <a:r>
              <a:rPr lang="zh-CN" altLang="en-US" sz="2400">
                <a:solidFill>
                  <a:srgbClr val="FF0000"/>
                </a:solidFill>
              </a:rPr>
              <a:t>、需求和设计</a:t>
            </a:r>
            <a:endParaRPr lang="en-US" altLang="zh-CN" sz="2400">
              <a:solidFill>
                <a:srgbClr val="FF0000"/>
              </a:solidFill>
            </a:endParaRPr>
          </a:p>
          <a:p>
            <a:endParaRPr lang="en-US" altLang="zh-CN" sz="2400"/>
          </a:p>
          <a:p>
            <a:r>
              <a:rPr lang="en-US" altLang="zh-CN" sz="2400"/>
              <a:t>2</a:t>
            </a:r>
            <a:r>
              <a:rPr lang="zh-CN" altLang="en-US" sz="2400"/>
              <a:t>、写代码并测试</a:t>
            </a:r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0580" y="327036"/>
            <a:ext cx="31432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65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20115" y="194945"/>
            <a:ext cx="2787650" cy="398780"/>
          </a:xfrm>
          <a:prstGeom prst="rect">
            <a:avLst/>
          </a:prstGeom>
          <a:gradFill>
            <a:gsLst>
              <a:gs pos="50000">
                <a:srgbClr val="CCE8EA"/>
              </a:gs>
              <a:gs pos="0">
                <a:srgbClr val="DDF0F1"/>
              </a:gs>
              <a:gs pos="100000">
                <a:srgbClr val="BAE0E2"/>
              </a:gs>
            </a:gsLst>
            <a:lin scaled="1"/>
          </a:gradFill>
        </p:spPr>
        <p:txBody>
          <a:bodyPr wrap="non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kumimoji="1" lang="zh-CN" altLang="en-US" b="1" spc="30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olas" pitchFamily="49" charset="0"/>
                <a:ea typeface="华文中宋" pitchFamily="2" charset="-122"/>
                <a:cs typeface="Consolas" pitchFamily="49" charset="0"/>
              </a:rPr>
              <a:t>分组任务</a:t>
            </a:r>
            <a:endParaRPr kumimoji="1" lang="zh-CN" altLang="en-US" b="1" spc="30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4" b="55436"/>
          <a:stretch>
            <a:fillRect/>
          </a:stretch>
        </p:blipFill>
        <p:spPr>
          <a:xfrm>
            <a:off x="21590" y="-46355"/>
            <a:ext cx="802005" cy="82169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98707" y="1120132"/>
            <a:ext cx="71706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400" b="0" smtClean="0">
              <a:effectLst/>
              <a:latin typeface="Consolas" panose="020B0609020204030204" pitchFamily="49" charset="0"/>
            </a:endParaRPr>
          </a:p>
          <a:p>
            <a:endParaRPr lang="zh-CN" altLang="en-US" sz="2400" b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99560" y="985662"/>
            <a:ext cx="64069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800"/>
          </a:p>
          <a:p>
            <a:r>
              <a:rPr lang="zh-CN" altLang="en-US" sz="2800"/>
              <a:t>每</a:t>
            </a:r>
            <a:r>
              <a:rPr lang="zh-CN" altLang="en-US" sz="2800" smtClean="0"/>
              <a:t>组完成详细设计，并上台进行</a:t>
            </a:r>
            <a:r>
              <a:rPr lang="zh-CN" altLang="en-US" sz="2800" smtClean="0"/>
              <a:t>讲解</a:t>
            </a:r>
            <a:r>
              <a:rPr lang="en-US" altLang="zh-CN" sz="2800" smtClean="0">
                <a:solidFill>
                  <a:srgbClr val="FF0000"/>
                </a:solidFill>
              </a:rPr>
              <a:t>skill</a:t>
            </a:r>
            <a:r>
              <a:rPr lang="zh-CN" altLang="en-US" sz="2800" smtClean="0"/>
              <a:t>功能如何设计（</a:t>
            </a:r>
            <a:r>
              <a:rPr lang="zh-CN" altLang="en-US" sz="2800" smtClean="0">
                <a:solidFill>
                  <a:srgbClr val="FF0000"/>
                </a:solidFill>
              </a:rPr>
              <a:t>包括</a:t>
            </a:r>
            <a:r>
              <a:rPr lang="en-US" altLang="zh-CN" sz="2800" smtClean="0">
                <a:solidFill>
                  <a:srgbClr val="FF0000"/>
                </a:solidFill>
              </a:rPr>
              <a:t>context</a:t>
            </a:r>
            <a:r>
              <a:rPr lang="zh-CN" altLang="en-US" sz="2800" smtClean="0">
                <a:solidFill>
                  <a:srgbClr val="FF0000"/>
                </a:solidFill>
              </a:rPr>
              <a:t>管理</a:t>
            </a:r>
            <a:r>
              <a:rPr lang="zh-CN" altLang="en-US" sz="2800" smtClean="0"/>
              <a:t>）</a:t>
            </a:r>
            <a:endParaRPr lang="en-US" altLang="zh-CN" sz="2800" smtClean="0"/>
          </a:p>
          <a:p>
            <a:endParaRPr lang="en-US" altLang="zh-CN" sz="2800" smtClean="0"/>
          </a:p>
          <a:p>
            <a:r>
              <a:rPr lang="zh-CN" altLang="en-US" sz="2800" smtClean="0"/>
              <a:t>做</a:t>
            </a:r>
            <a:r>
              <a:rPr lang="en-US" altLang="zh-CN" sz="2800" smtClean="0"/>
              <a:t>3-5</a:t>
            </a:r>
            <a:r>
              <a:rPr lang="zh-CN" altLang="en-US" sz="2800" smtClean="0"/>
              <a:t>页</a:t>
            </a:r>
            <a:r>
              <a:rPr lang="en-US" altLang="zh-CN" sz="2800"/>
              <a:t>PPT</a:t>
            </a:r>
            <a:r>
              <a:rPr lang="zh-CN" altLang="en-US" sz="2800"/>
              <a:t>上台演示</a:t>
            </a:r>
          </a:p>
          <a:p>
            <a:endParaRPr lang="en-US" altLang="zh-CN" sz="2800"/>
          </a:p>
        </p:txBody>
      </p:sp>
      <p:pic>
        <p:nvPicPr>
          <p:cNvPr id="6" name="Picture 2" descr="https://p4.itc.cn/q_70/images03/20220628/d511667137db41098118f4376abdeb56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572" y="2198594"/>
            <a:ext cx="2684807" cy="268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83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20115" y="194945"/>
            <a:ext cx="2787650" cy="398780"/>
          </a:xfrm>
          <a:prstGeom prst="rect">
            <a:avLst/>
          </a:prstGeom>
          <a:gradFill>
            <a:gsLst>
              <a:gs pos="50000">
                <a:srgbClr val="CCE8EA"/>
              </a:gs>
              <a:gs pos="0">
                <a:srgbClr val="DDF0F1"/>
              </a:gs>
              <a:gs pos="100000">
                <a:srgbClr val="BAE0E2"/>
              </a:gs>
            </a:gsLst>
            <a:lin scaled="1"/>
          </a:gradFill>
        </p:spPr>
        <p:txBody>
          <a:bodyPr wrap="non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kumimoji="1" lang="zh-CN" altLang="en-US" b="1" spc="300" noProof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nsolas" pitchFamily="49" charset="0"/>
                <a:ea typeface="华文中宋" pitchFamily="2" charset="-122"/>
                <a:cs typeface="Consolas" pitchFamily="49" charset="0"/>
              </a:rPr>
              <a:t>分组任务</a:t>
            </a:r>
            <a:endParaRPr kumimoji="1" lang="zh-CN" altLang="en-US" b="1" spc="30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4" b="55436"/>
          <a:stretch>
            <a:fillRect/>
          </a:stretch>
        </p:blipFill>
        <p:spPr>
          <a:xfrm>
            <a:off x="21590" y="-46355"/>
            <a:ext cx="802005" cy="82169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98707" y="1120132"/>
            <a:ext cx="71706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400" b="0" smtClean="0">
              <a:effectLst/>
              <a:latin typeface="Consolas" panose="020B0609020204030204" pitchFamily="49" charset="0"/>
            </a:endParaRPr>
          </a:p>
          <a:p>
            <a:endParaRPr lang="zh-CN" altLang="en-US" sz="2400" b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39411" y="1402631"/>
            <a:ext cx="56477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800"/>
          </a:p>
          <a:p>
            <a:r>
              <a:rPr lang="zh-CN" altLang="en-US" sz="2800"/>
              <a:t>每</a:t>
            </a:r>
            <a:r>
              <a:rPr lang="zh-CN" altLang="en-US" sz="2800" smtClean="0"/>
              <a:t>组根据详细设计使用</a:t>
            </a:r>
            <a:r>
              <a:rPr lang="en-US" altLang="zh-CN" sz="2800" smtClean="0"/>
              <a:t>claude code </a:t>
            </a:r>
            <a:endParaRPr lang="en-US" altLang="zh-CN" sz="2800" smtClean="0"/>
          </a:p>
          <a:p>
            <a:endParaRPr lang="en-US" altLang="zh-CN" sz="2800">
              <a:solidFill>
                <a:srgbClr val="FF0000"/>
              </a:solidFill>
            </a:endParaRPr>
          </a:p>
          <a:p>
            <a:r>
              <a:rPr lang="en-US" altLang="zh-CN" sz="2800" smtClean="0">
                <a:solidFill>
                  <a:srgbClr val="FF0000"/>
                </a:solidFill>
              </a:rPr>
              <a:t>1</a:t>
            </a:r>
            <a:r>
              <a:rPr lang="zh-CN" altLang="en-US" sz="2800" smtClean="0">
                <a:solidFill>
                  <a:srgbClr val="FF0000"/>
                </a:solidFill>
              </a:rPr>
              <a:t>、完成</a:t>
            </a:r>
            <a:r>
              <a:rPr lang="en-US" altLang="zh-CN" sz="2800" smtClean="0">
                <a:solidFill>
                  <a:srgbClr val="FF0000"/>
                </a:solidFill>
              </a:rPr>
              <a:t>SKILL</a:t>
            </a:r>
            <a:r>
              <a:rPr lang="zh-CN" altLang="en-US" sz="2800" smtClean="0">
                <a:solidFill>
                  <a:srgbClr val="FF0000"/>
                </a:solidFill>
              </a:rPr>
              <a:t>功能编码</a:t>
            </a:r>
            <a:endParaRPr lang="en-US" altLang="zh-CN" sz="2800" smtClean="0"/>
          </a:p>
          <a:p>
            <a:r>
              <a:rPr lang="en-US" altLang="zh-CN" sz="2800" smtClean="0"/>
              <a:t>2</a:t>
            </a:r>
            <a:r>
              <a:rPr lang="zh-CN" altLang="en-US" sz="2800" smtClean="0"/>
              <a:t>、</a:t>
            </a:r>
            <a:r>
              <a:rPr lang="zh-CN" altLang="en-US" sz="2800" smtClean="0"/>
              <a:t>并</a:t>
            </a:r>
            <a:r>
              <a:rPr lang="zh-CN" altLang="en-US" sz="2800" smtClean="0"/>
              <a:t>上台进行</a:t>
            </a:r>
            <a:r>
              <a:rPr lang="zh-CN" altLang="en-US" sz="2800" smtClean="0">
                <a:solidFill>
                  <a:srgbClr val="FF0000"/>
                </a:solidFill>
              </a:rPr>
              <a:t>演示和讲解</a:t>
            </a:r>
            <a:endParaRPr lang="en-US" altLang="zh-CN" sz="2800" smtClean="0">
              <a:solidFill>
                <a:srgbClr val="FF0000"/>
              </a:solidFill>
            </a:endParaRPr>
          </a:p>
          <a:p>
            <a:endParaRPr lang="en-US" altLang="zh-CN" sz="2800"/>
          </a:p>
        </p:txBody>
      </p:sp>
      <p:pic>
        <p:nvPicPr>
          <p:cNvPr id="6" name="Picture 2" descr="https://p4.itc.cn/q_70/images03/20220628/d511667137db41098118f4376abdeb56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381" y="-147535"/>
            <a:ext cx="2362587" cy="236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369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20115" y="194945"/>
            <a:ext cx="2787650" cy="398780"/>
          </a:xfrm>
          <a:prstGeom prst="rect">
            <a:avLst/>
          </a:prstGeom>
          <a:gradFill>
            <a:gsLst>
              <a:gs pos="50000">
                <a:srgbClr val="CCE8EA"/>
              </a:gs>
              <a:gs pos="0">
                <a:srgbClr val="DDF0F1"/>
              </a:gs>
              <a:gs pos="100000">
                <a:srgbClr val="BAE0E2"/>
              </a:gs>
            </a:gsLst>
            <a:lin scaled="1"/>
          </a:gradFill>
        </p:spPr>
        <p:txBody>
          <a:bodyPr wrap="non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b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nvwa skill</a:t>
            </a:r>
            <a:endParaRPr kumimoji="1" lang="zh-CN" altLang="en-US" b="1" spc="30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4" b="55436"/>
          <a:stretch>
            <a:fillRect/>
          </a:stretch>
        </p:blipFill>
        <p:spPr>
          <a:xfrm>
            <a:off x="21590" y="-46355"/>
            <a:ext cx="802005" cy="82169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98707" y="1120132"/>
            <a:ext cx="71706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400" b="0" smtClean="0">
              <a:effectLst/>
              <a:latin typeface="Consolas" panose="020B0609020204030204" pitchFamily="49" charset="0"/>
            </a:endParaRPr>
          </a:p>
          <a:p>
            <a:endParaRPr lang="zh-CN" altLang="en-US" sz="2400" b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3595" y="1120132"/>
            <a:ext cx="56587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000"/>
          </a:p>
          <a:p>
            <a:r>
              <a:rPr lang="zh-CN" altLang="en-US" sz="2000" smtClean="0"/>
              <a:t>在</a:t>
            </a:r>
            <a:r>
              <a:rPr lang="en-US" altLang="zh-CN" sz="2000" smtClean="0"/>
              <a:t>openclaw</a:t>
            </a:r>
            <a:r>
              <a:rPr lang="zh-CN" altLang="en-US" sz="2000" smtClean="0"/>
              <a:t>上安装</a:t>
            </a:r>
            <a:r>
              <a:rPr lang="zh-CN" altLang="en-US" sz="2000" smtClean="0">
                <a:solidFill>
                  <a:srgbClr val="FF0000"/>
                </a:solidFill>
              </a:rPr>
              <a:t>女娲</a:t>
            </a:r>
            <a:r>
              <a:rPr lang="en-US" altLang="zh-CN" sz="2000" smtClean="0">
                <a:solidFill>
                  <a:srgbClr val="FF0000"/>
                </a:solidFill>
              </a:rPr>
              <a:t> skill</a:t>
            </a:r>
            <a:r>
              <a:rPr lang="zh-CN" altLang="en-US" sz="2000">
                <a:solidFill>
                  <a:srgbClr val="FF0000"/>
                </a:solidFill>
              </a:rPr>
              <a:t> </a:t>
            </a:r>
            <a:r>
              <a:rPr lang="zh-CN" altLang="en-US" sz="2000" smtClean="0">
                <a:solidFill>
                  <a:srgbClr val="FF0000"/>
                </a:solidFill>
              </a:rPr>
              <a:t>和 马斯克</a:t>
            </a:r>
            <a:r>
              <a:rPr lang="en-US" altLang="zh-CN" sz="2000" smtClean="0">
                <a:solidFill>
                  <a:srgbClr val="FF0000"/>
                </a:solidFill>
              </a:rPr>
              <a:t>skill</a:t>
            </a:r>
            <a:r>
              <a:rPr lang="zh-CN" altLang="en-US" sz="2000" smtClean="0">
                <a:solidFill>
                  <a:srgbClr val="FF0000"/>
                </a:solidFill>
              </a:rPr>
              <a:t>、芒格</a:t>
            </a:r>
            <a:r>
              <a:rPr lang="en-US" altLang="zh-CN" sz="2000" smtClean="0">
                <a:solidFill>
                  <a:srgbClr val="FF0000"/>
                </a:solidFill>
              </a:rPr>
              <a:t>skill </a:t>
            </a:r>
            <a:r>
              <a:rPr lang="zh-CN" altLang="en-US" sz="2000" smtClean="0">
                <a:solidFill>
                  <a:srgbClr val="FF0000"/>
                </a:solidFill>
              </a:rPr>
              <a:t>和 张雪峰</a:t>
            </a:r>
            <a:r>
              <a:rPr lang="en-US" altLang="zh-CN" sz="2000" smtClean="0">
                <a:solidFill>
                  <a:srgbClr val="FF0000"/>
                </a:solidFill>
              </a:rPr>
              <a:t>skill</a:t>
            </a:r>
            <a:r>
              <a:rPr lang="zh-CN" altLang="en-US" sz="2000" smtClean="0">
                <a:solidFill>
                  <a:srgbClr val="FF0000"/>
                </a:solidFill>
              </a:rPr>
              <a:t> ：</a:t>
            </a:r>
            <a:endParaRPr lang="en-US" altLang="zh-CN" sz="2000" smtClean="0">
              <a:solidFill>
                <a:srgbClr val="FF0000"/>
              </a:solidFill>
            </a:endParaRPr>
          </a:p>
          <a:p>
            <a:endParaRPr lang="en-US" altLang="zh-CN" sz="2000">
              <a:solidFill>
                <a:srgbClr val="FF0000"/>
              </a:solidFill>
            </a:endParaRPr>
          </a:p>
          <a:p>
            <a:r>
              <a:rPr lang="en-US" altLang="zh-CN" sz="2000" smtClean="0"/>
              <a:t>1</a:t>
            </a:r>
            <a:r>
              <a:rPr lang="zh-CN" altLang="en-US" sz="2000" smtClean="0"/>
              <a:t>、试用这几个</a:t>
            </a:r>
            <a:r>
              <a:rPr lang="en-US" altLang="zh-CN" sz="2000" smtClean="0"/>
              <a:t>skill</a:t>
            </a:r>
            <a:r>
              <a:rPr lang="zh-CN" altLang="en-US" sz="2000" smtClean="0"/>
              <a:t>，用张雪峰</a:t>
            </a:r>
            <a:r>
              <a:rPr lang="en-US" altLang="zh-CN" sz="2000" smtClean="0"/>
              <a:t>skill </a:t>
            </a:r>
            <a:r>
              <a:rPr lang="zh-CN" altLang="en-US" sz="2000" smtClean="0"/>
              <a:t>对你的</a:t>
            </a:r>
            <a:r>
              <a:rPr lang="zh-CN" altLang="en-US" sz="2000" smtClean="0">
                <a:solidFill>
                  <a:srgbClr val="FF0000"/>
                </a:solidFill>
              </a:rPr>
              <a:t>考研</a:t>
            </a:r>
            <a:r>
              <a:rPr lang="en-US" altLang="zh-CN" sz="2000" smtClean="0">
                <a:solidFill>
                  <a:srgbClr val="FF0000"/>
                </a:solidFill>
              </a:rPr>
              <a:t>/</a:t>
            </a:r>
            <a:r>
              <a:rPr lang="zh-CN" altLang="en-US" sz="2000" smtClean="0">
                <a:solidFill>
                  <a:srgbClr val="FF0000"/>
                </a:solidFill>
              </a:rPr>
              <a:t>考公</a:t>
            </a:r>
            <a:r>
              <a:rPr lang="en-US" altLang="zh-CN" sz="2000" smtClean="0">
                <a:solidFill>
                  <a:srgbClr val="FF0000"/>
                </a:solidFill>
              </a:rPr>
              <a:t>/</a:t>
            </a:r>
            <a:r>
              <a:rPr lang="zh-CN" altLang="en-US" sz="2000" smtClean="0">
                <a:solidFill>
                  <a:srgbClr val="FF0000"/>
                </a:solidFill>
              </a:rPr>
              <a:t>工作  </a:t>
            </a:r>
            <a:r>
              <a:rPr lang="zh-CN" altLang="en-US" sz="2000" smtClean="0"/>
              <a:t>进行建议</a:t>
            </a:r>
            <a:endParaRPr lang="en-US" altLang="zh-CN" sz="2000" smtClean="0"/>
          </a:p>
          <a:p>
            <a:endParaRPr lang="en-US" altLang="zh-CN" sz="2000"/>
          </a:p>
          <a:p>
            <a:r>
              <a:rPr lang="en-US" altLang="zh-CN" sz="2000" smtClean="0"/>
              <a:t>2</a:t>
            </a:r>
            <a:r>
              <a:rPr lang="zh-CN" altLang="en-US" sz="2000" smtClean="0"/>
              <a:t>、使用 </a:t>
            </a:r>
            <a:r>
              <a:rPr lang="zh-CN" altLang="en-US" sz="2000" smtClean="0"/>
              <a:t>女娲</a:t>
            </a:r>
            <a:r>
              <a:rPr lang="en-US" altLang="zh-CN" sz="2000" smtClean="0"/>
              <a:t> </a:t>
            </a:r>
            <a:r>
              <a:rPr lang="en-US" altLang="zh-CN" sz="2000"/>
              <a:t>skill</a:t>
            </a:r>
            <a:r>
              <a:rPr lang="zh-CN" altLang="en-US" sz="2000"/>
              <a:t> </a:t>
            </a:r>
            <a:r>
              <a:rPr lang="zh-CN" altLang="en-US" sz="2000"/>
              <a:t>做</a:t>
            </a:r>
            <a:r>
              <a:rPr lang="zh-CN" altLang="en-US" sz="2000"/>
              <a:t>一</a:t>
            </a:r>
            <a:r>
              <a:rPr lang="zh-CN" altLang="en-US" sz="2000" smtClean="0"/>
              <a:t>个</a:t>
            </a:r>
            <a:r>
              <a:rPr lang="zh-CN" altLang="en-US" sz="2000" smtClean="0">
                <a:solidFill>
                  <a:srgbClr val="FF0000"/>
                </a:solidFill>
              </a:rPr>
              <a:t>名人的</a:t>
            </a:r>
            <a:r>
              <a:rPr lang="en-US" altLang="zh-CN" sz="2000" smtClean="0">
                <a:solidFill>
                  <a:srgbClr val="FF0000"/>
                </a:solidFill>
              </a:rPr>
              <a:t>skill</a:t>
            </a:r>
            <a:endParaRPr lang="zh-CN" altLang="en-US" sz="2000">
              <a:solidFill>
                <a:srgbClr val="FF0000"/>
              </a:solidFill>
            </a:endParaRPr>
          </a:p>
        </p:txBody>
      </p:sp>
      <p:pic>
        <p:nvPicPr>
          <p:cNvPr id="1026" name="Picture 2" descr="https://pic.rmb.bdstatic.com/bjh/other/59555a6610ef00964a0eb499f38c8bc0.png?for=b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417" y="1054214"/>
            <a:ext cx="1690820" cy="3031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816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20115" y="194945"/>
            <a:ext cx="2787650" cy="398780"/>
          </a:xfrm>
          <a:prstGeom prst="rect">
            <a:avLst/>
          </a:prstGeom>
          <a:gradFill>
            <a:gsLst>
              <a:gs pos="50000">
                <a:srgbClr val="CCE8EA"/>
              </a:gs>
              <a:gs pos="0">
                <a:srgbClr val="DDF0F1"/>
              </a:gs>
              <a:gs pos="100000">
                <a:srgbClr val="BAE0E2"/>
              </a:gs>
            </a:gsLst>
            <a:lin scaled="1"/>
          </a:gradFill>
        </p:spPr>
        <p:txBody>
          <a:bodyPr wrap="non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b="1" smtClean="0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nuwa </a:t>
            </a:r>
            <a:r>
              <a:rPr lang="en-US" altLang="zh-CN" b="1">
                <a:solidFill>
                  <a:srgbClr val="3333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skill</a:t>
            </a:r>
            <a:endParaRPr kumimoji="1" lang="zh-CN" altLang="en-US" b="1" spc="30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4" b="55436"/>
          <a:stretch>
            <a:fillRect/>
          </a:stretch>
        </p:blipFill>
        <p:spPr>
          <a:xfrm>
            <a:off x="21590" y="-46355"/>
            <a:ext cx="802005" cy="82169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98707" y="1120132"/>
            <a:ext cx="71706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400" b="0" smtClean="0">
              <a:effectLst/>
              <a:latin typeface="Consolas" panose="020B0609020204030204" pitchFamily="49" charset="0"/>
            </a:endParaRPr>
          </a:p>
          <a:p>
            <a:endParaRPr lang="zh-CN" altLang="en-US" sz="2400" b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60938" y="1786326"/>
            <a:ext cx="39913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000"/>
          </a:p>
          <a:p>
            <a:r>
              <a:rPr lang="zh-CN" altLang="en-US" sz="2000" smtClean="0"/>
              <a:t>将</a:t>
            </a:r>
            <a:r>
              <a:rPr lang="zh-CN" altLang="en-US" sz="2000" smtClean="0">
                <a:solidFill>
                  <a:srgbClr val="FF0000"/>
                </a:solidFill>
              </a:rPr>
              <a:t>女娲</a:t>
            </a:r>
            <a:r>
              <a:rPr lang="en-US" altLang="zh-CN" sz="2000" smtClean="0">
                <a:solidFill>
                  <a:srgbClr val="FF0000"/>
                </a:solidFill>
              </a:rPr>
              <a:t> skill</a:t>
            </a:r>
            <a:r>
              <a:rPr lang="zh-CN" altLang="en-US" sz="2000">
                <a:solidFill>
                  <a:srgbClr val="FF0000"/>
                </a:solidFill>
              </a:rPr>
              <a:t> </a:t>
            </a:r>
            <a:r>
              <a:rPr lang="zh-CN" altLang="en-US" sz="2000" smtClean="0">
                <a:solidFill>
                  <a:srgbClr val="FF0000"/>
                </a:solidFill>
              </a:rPr>
              <a:t>和 马斯克</a:t>
            </a:r>
            <a:r>
              <a:rPr lang="en-US" altLang="zh-CN" sz="2000" smtClean="0">
                <a:solidFill>
                  <a:srgbClr val="FF0000"/>
                </a:solidFill>
              </a:rPr>
              <a:t>skill</a:t>
            </a:r>
            <a:r>
              <a:rPr lang="zh-CN" altLang="en-US" sz="2000" smtClean="0">
                <a:solidFill>
                  <a:srgbClr val="FF0000"/>
                </a:solidFill>
              </a:rPr>
              <a:t>、芒格</a:t>
            </a:r>
            <a:r>
              <a:rPr lang="en-US" altLang="zh-CN" sz="2000" smtClean="0">
                <a:solidFill>
                  <a:srgbClr val="FF0000"/>
                </a:solidFill>
              </a:rPr>
              <a:t>skill </a:t>
            </a:r>
            <a:r>
              <a:rPr lang="zh-CN" altLang="en-US" sz="2000" smtClean="0">
                <a:solidFill>
                  <a:srgbClr val="FF0000"/>
                </a:solidFill>
              </a:rPr>
              <a:t>和 张雪峰</a:t>
            </a:r>
            <a:r>
              <a:rPr lang="en-US" altLang="zh-CN" sz="2000" smtClean="0">
                <a:solidFill>
                  <a:srgbClr val="FF0000"/>
                </a:solidFill>
              </a:rPr>
              <a:t>skill</a:t>
            </a:r>
            <a:r>
              <a:rPr lang="zh-CN" altLang="en-US" sz="2000" smtClean="0">
                <a:solidFill>
                  <a:srgbClr val="FF0000"/>
                </a:solidFill>
              </a:rPr>
              <a:t>  </a:t>
            </a:r>
            <a:r>
              <a:rPr lang="zh-CN" altLang="en-US" sz="2000" smtClean="0"/>
              <a:t>安装在自己开发的 </a:t>
            </a:r>
            <a:r>
              <a:rPr lang="en-US" altLang="zh-CN" sz="2000" smtClean="0"/>
              <a:t>agent</a:t>
            </a:r>
            <a:r>
              <a:rPr lang="zh-CN" altLang="en-US" sz="2000" smtClean="0"/>
              <a:t>上，并试用效果</a:t>
            </a:r>
            <a:endParaRPr lang="en-US" altLang="zh-CN" sz="2000" smtClean="0"/>
          </a:p>
        </p:txBody>
      </p:sp>
      <p:pic>
        <p:nvPicPr>
          <p:cNvPr id="1026" name="Picture 2" descr="https://pic.rmb.bdstatic.com/bjh/other/59555a6610ef00964a0eb499f38c8bc0.png?for=b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41" y="1236587"/>
            <a:ext cx="1690820" cy="3031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21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42282" y="1353444"/>
            <a:ext cx="5047530" cy="2653289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CN" sz="2400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01 </a:t>
            </a:r>
            <a:r>
              <a:rPr lang="zh-CN" altLang="en-US" sz="2400" b="1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理解</a:t>
            </a:r>
            <a:r>
              <a:rPr lang="en-US" altLang="zh-CN" sz="2400" b="1">
                <a:latin typeface="Consolas" pitchFamily="49" charset="0"/>
                <a:ea typeface="仿宋" pitchFamily="49" charset="-122"/>
                <a:cs typeface="Consolas" pitchFamily="49" charset="0"/>
              </a:rPr>
              <a:t>tool</a:t>
            </a:r>
            <a:r>
              <a:rPr lang="zh-CN" altLang="en-US" sz="2400" b="1"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sz="2400" b="1">
                <a:latin typeface="Consolas" pitchFamily="49" charset="0"/>
                <a:ea typeface="仿宋" pitchFamily="49" charset="-122"/>
                <a:cs typeface="Consolas" pitchFamily="49" charset="0"/>
              </a:rPr>
              <a:t>cli</a:t>
            </a:r>
            <a:r>
              <a:rPr lang="zh-CN" altLang="en-US" sz="2400" b="1">
                <a:latin typeface="Consolas" pitchFamily="49" charset="0"/>
                <a:ea typeface="仿宋" pitchFamily="49" charset="-122"/>
                <a:cs typeface="Consolas" pitchFamily="49" charset="0"/>
              </a:rPr>
              <a:t>代码</a:t>
            </a:r>
            <a:endParaRPr lang="en-US" altLang="zh-CN" sz="2400"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CN" sz="2400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02</a:t>
            </a:r>
            <a:r>
              <a:rPr lang="en-US" altLang="zh-CN" sz="2400" b="1">
                <a:latin typeface="Consolas" pitchFamily="49" charset="0"/>
                <a:ea typeface="仿宋" pitchFamily="49" charset="-122"/>
                <a:cs typeface="Consolas" pitchFamily="49" charset="0"/>
              </a:rPr>
              <a:t> Ralph-mode</a:t>
            </a:r>
            <a:r>
              <a:rPr lang="zh-CN" altLang="en-US" sz="2400" b="1">
                <a:latin typeface="Consolas" pitchFamily="49" charset="0"/>
                <a:ea typeface="仿宋" pitchFamily="49" charset="-122"/>
                <a:cs typeface="Consolas" pitchFamily="49" charset="0"/>
              </a:rPr>
              <a:t>重写代码</a:t>
            </a:r>
            <a:endParaRPr lang="en-US" altLang="zh-CN" sz="2400"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CN" sz="2400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03 agent</a:t>
            </a:r>
            <a:r>
              <a:rPr lang="zh-CN" altLang="en-US" sz="2400" b="1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支持</a:t>
            </a:r>
            <a:r>
              <a:rPr lang="en-US" altLang="zh-CN" sz="2400" b="1">
                <a:latin typeface="Consolas" pitchFamily="49" charset="0"/>
                <a:ea typeface="仿宋" pitchFamily="49" charset="-122"/>
                <a:cs typeface="Consolas" pitchFamily="49" charset="0"/>
              </a:rPr>
              <a:t>skill</a:t>
            </a:r>
            <a:endParaRPr lang="en-US" altLang="zh-CN" sz="2400"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CN" sz="2400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04 </a:t>
            </a:r>
            <a:r>
              <a:rPr lang="en-US" altLang="zh-CN" sz="2400" b="1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nuwa </a:t>
            </a:r>
            <a:r>
              <a:rPr lang="en-US" altLang="zh-CN" sz="2400" b="1">
                <a:latin typeface="Consolas" pitchFamily="49" charset="0"/>
                <a:ea typeface="仿宋" pitchFamily="49" charset="-122"/>
                <a:cs typeface="Consolas" pitchFamily="49" charset="0"/>
              </a:rPr>
              <a:t>skill</a:t>
            </a:r>
            <a:endParaRPr lang="zh-CN" altLang="en-US" sz="2400" dirty="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小结</a:t>
            </a:r>
            <a:endParaRPr/>
          </a:p>
        </p:txBody>
      </p:sp>
      <p:pic>
        <p:nvPicPr>
          <p:cNvPr id="5" name="Picture 2" descr="https://picx.zhimg.com/v2-d4f3fe542bb90e584d95bb5960c3a41c_720w.jpg?source=172ae18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941" y="460664"/>
            <a:ext cx="2078423" cy="206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24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277745"/>
            <a:ext cx="9144000" cy="1691640"/>
          </a:xfrm>
          <a:prstGeom prst="rect">
            <a:avLst/>
          </a:prstGeom>
          <a:gradFill>
            <a:gsLst>
              <a:gs pos="0">
                <a:srgbClr val="56A0B9"/>
              </a:gs>
              <a:gs pos="100000">
                <a:srgbClr val="5DBDC3"/>
              </a:gs>
            </a:gsLst>
            <a:lin scaled="1"/>
          </a:gradFill>
          <a:ln w="25400" cap="flat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15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  <p:sp>
        <p:nvSpPr>
          <p:cNvPr id="9220" name="文本框 16"/>
          <p:cNvSpPr txBox="1">
            <a:spLocks noChangeArrowheads="1"/>
          </p:cNvSpPr>
          <p:nvPr/>
        </p:nvSpPr>
        <p:spPr bwMode="auto">
          <a:xfrm>
            <a:off x="3618230" y="2797175"/>
            <a:ext cx="4668520" cy="5530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谢谢聆听！</a:t>
            </a:r>
          </a:p>
        </p:txBody>
      </p:sp>
      <p:grpSp>
        <p:nvGrpSpPr>
          <p:cNvPr id="18443" name="组合 12"/>
          <p:cNvGrpSpPr/>
          <p:nvPr/>
        </p:nvGrpSpPr>
        <p:grpSpPr bwMode="auto">
          <a:xfrm>
            <a:off x="3452495" y="822960"/>
            <a:ext cx="5319395" cy="1258570"/>
            <a:chOff x="4194223" y="1916700"/>
            <a:chExt cx="7981531" cy="1368853"/>
          </a:xfrm>
        </p:grpSpPr>
        <p:cxnSp>
          <p:nvCxnSpPr>
            <p:cNvPr id="19" name="直接连接符 18"/>
            <p:cNvCxnSpPr/>
            <p:nvPr/>
          </p:nvCxnSpPr>
          <p:spPr>
            <a:xfrm flipH="1">
              <a:off x="4194223" y="3285553"/>
              <a:ext cx="3600803" cy="0"/>
            </a:xfrm>
            <a:prstGeom prst="line">
              <a:avLst/>
            </a:prstGeom>
            <a:ln>
              <a:headEnd type="diamond" w="med" len="med"/>
              <a:tailEnd type="diamond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795026" y="1916700"/>
              <a:ext cx="0" cy="1368853"/>
            </a:xfrm>
            <a:prstGeom prst="line">
              <a:avLst/>
            </a:prstGeom>
            <a:ln>
              <a:headEnd type="diamond" w="med" len="med"/>
              <a:tailEnd type="diamond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 flipV="1">
              <a:off x="7795026" y="1916700"/>
              <a:ext cx="4380728" cy="37723"/>
            </a:xfrm>
            <a:prstGeom prst="line">
              <a:avLst/>
            </a:prstGeom>
            <a:ln>
              <a:headEnd type="diamond" w="med" len="med"/>
              <a:tailEnd type="diamond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8438" name="组合 21"/>
          <p:cNvGrpSpPr/>
          <p:nvPr/>
        </p:nvGrpSpPr>
        <p:grpSpPr bwMode="auto">
          <a:xfrm>
            <a:off x="4866561" y="4165600"/>
            <a:ext cx="3069431" cy="528638"/>
            <a:chOff x="0" y="5691345"/>
            <a:chExt cx="4093000" cy="704850"/>
          </a:xfrm>
        </p:grpSpPr>
        <p:sp>
          <p:nvSpPr>
            <p:cNvPr id="9224" name="Freeform 5"/>
            <p:cNvSpPr/>
            <p:nvPr/>
          </p:nvSpPr>
          <p:spPr bwMode="auto">
            <a:xfrm>
              <a:off x="336585" y="5691345"/>
              <a:ext cx="3756415" cy="704850"/>
            </a:xfrm>
            <a:custGeom>
              <a:avLst/>
              <a:gdLst>
                <a:gd name="T0" fmla="*/ 2147483646 w 4864"/>
                <a:gd name="T1" fmla="*/ 2147483646 h 769"/>
                <a:gd name="T2" fmla="*/ 2147483646 w 4864"/>
                <a:gd name="T3" fmla="*/ 2147483646 h 769"/>
                <a:gd name="T4" fmla="*/ 2147483646 w 4864"/>
                <a:gd name="T5" fmla="*/ 2147483646 h 769"/>
                <a:gd name="T6" fmla="*/ 2147483646 w 4864"/>
                <a:gd name="T7" fmla="*/ 2147483646 h 769"/>
                <a:gd name="T8" fmla="*/ 2147483646 w 4864"/>
                <a:gd name="T9" fmla="*/ 2147483646 h 769"/>
                <a:gd name="T10" fmla="*/ 2147483646 w 4864"/>
                <a:gd name="T11" fmla="*/ 2147483646 h 769"/>
                <a:gd name="T12" fmla="*/ 2147483646 w 4864"/>
                <a:gd name="T13" fmla="*/ 2147483646 h 769"/>
                <a:gd name="T14" fmla="*/ 2147483646 w 4864"/>
                <a:gd name="T15" fmla="*/ 2147483646 h 769"/>
                <a:gd name="T16" fmla="*/ 2147483646 w 4864"/>
                <a:gd name="T17" fmla="*/ 2147483646 h 769"/>
                <a:gd name="T18" fmla="*/ 2147483646 w 4864"/>
                <a:gd name="T19" fmla="*/ 2147483646 h 769"/>
                <a:gd name="T20" fmla="*/ 2147483646 w 4864"/>
                <a:gd name="T21" fmla="*/ 2147483646 h 769"/>
                <a:gd name="T22" fmla="*/ 2147483646 w 4864"/>
                <a:gd name="T23" fmla="*/ 2147483646 h 769"/>
                <a:gd name="T24" fmla="*/ 2147483646 w 4864"/>
                <a:gd name="T25" fmla="*/ 2147483646 h 769"/>
                <a:gd name="T26" fmla="*/ 2147483646 w 4864"/>
                <a:gd name="T27" fmla="*/ 2147483646 h 769"/>
                <a:gd name="T28" fmla="*/ 2147483646 w 4864"/>
                <a:gd name="T29" fmla="*/ 2147483646 h 769"/>
                <a:gd name="T30" fmla="*/ 2147483646 w 4864"/>
                <a:gd name="T31" fmla="*/ 2147483646 h 769"/>
                <a:gd name="T32" fmla="*/ 2147483646 w 4864"/>
                <a:gd name="T33" fmla="*/ 2147483646 h 769"/>
                <a:gd name="T34" fmla="*/ 2147483646 w 4864"/>
                <a:gd name="T35" fmla="*/ 2147483646 h 769"/>
                <a:gd name="T36" fmla="*/ 2147483646 w 4864"/>
                <a:gd name="T37" fmla="*/ 2147483646 h 769"/>
                <a:gd name="T38" fmla="*/ 2147483646 w 4864"/>
                <a:gd name="T39" fmla="*/ 2147483646 h 769"/>
                <a:gd name="T40" fmla="*/ 2147483646 w 4864"/>
                <a:gd name="T41" fmla="*/ 2147483646 h 769"/>
                <a:gd name="T42" fmla="*/ 2147483646 w 4864"/>
                <a:gd name="T43" fmla="*/ 2147483646 h 769"/>
                <a:gd name="T44" fmla="*/ 2147483646 w 4864"/>
                <a:gd name="T45" fmla="*/ 2147483646 h 769"/>
                <a:gd name="T46" fmla="*/ 2147483646 w 4864"/>
                <a:gd name="T47" fmla="*/ 2147483646 h 769"/>
                <a:gd name="T48" fmla="*/ 2147483646 w 4864"/>
                <a:gd name="T49" fmla="*/ 2147483646 h 769"/>
                <a:gd name="T50" fmla="*/ 2147483646 w 4864"/>
                <a:gd name="T51" fmla="*/ 2147483646 h 769"/>
                <a:gd name="T52" fmla="*/ 2147483646 w 4864"/>
                <a:gd name="T53" fmla="*/ 2147483646 h 769"/>
                <a:gd name="T54" fmla="*/ 2147483646 w 4864"/>
                <a:gd name="T55" fmla="*/ 2147483646 h 769"/>
                <a:gd name="T56" fmla="*/ 2147483646 w 4864"/>
                <a:gd name="T57" fmla="*/ 2147483646 h 769"/>
                <a:gd name="T58" fmla="*/ 2147483646 w 4864"/>
                <a:gd name="T59" fmla="*/ 2147483646 h 769"/>
                <a:gd name="T60" fmla="*/ 2147483646 w 4864"/>
                <a:gd name="T61" fmla="*/ 2147483646 h 769"/>
                <a:gd name="T62" fmla="*/ 2147483646 w 4864"/>
                <a:gd name="T63" fmla="*/ 2147483646 h 769"/>
                <a:gd name="T64" fmla="*/ 2147483646 w 4864"/>
                <a:gd name="T65" fmla="*/ 2147483646 h 769"/>
                <a:gd name="T66" fmla="*/ 2147483646 w 4864"/>
                <a:gd name="T67" fmla="*/ 2147483646 h 769"/>
                <a:gd name="T68" fmla="*/ 2147483646 w 4864"/>
                <a:gd name="T69" fmla="*/ 2147483646 h 769"/>
                <a:gd name="T70" fmla="*/ 2147483646 w 4864"/>
                <a:gd name="T71" fmla="*/ 2147483646 h 769"/>
                <a:gd name="T72" fmla="*/ 2147483646 w 4864"/>
                <a:gd name="T73" fmla="*/ 2147483646 h 76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864" h="769">
                  <a:moveTo>
                    <a:pt x="306" y="4"/>
                  </a:moveTo>
                  <a:cubicBezTo>
                    <a:pt x="265" y="21"/>
                    <a:pt x="307" y="25"/>
                    <a:pt x="266" y="42"/>
                  </a:cubicBezTo>
                  <a:cubicBezTo>
                    <a:pt x="228" y="27"/>
                    <a:pt x="225" y="21"/>
                    <a:pt x="167" y="42"/>
                  </a:cubicBezTo>
                  <a:cubicBezTo>
                    <a:pt x="141" y="52"/>
                    <a:pt x="142" y="90"/>
                    <a:pt x="107" y="103"/>
                  </a:cubicBezTo>
                  <a:cubicBezTo>
                    <a:pt x="84" y="130"/>
                    <a:pt x="69" y="156"/>
                    <a:pt x="46" y="182"/>
                  </a:cubicBezTo>
                  <a:cubicBezTo>
                    <a:pt x="53" y="188"/>
                    <a:pt x="61" y="196"/>
                    <a:pt x="69" y="200"/>
                  </a:cubicBezTo>
                  <a:cubicBezTo>
                    <a:pt x="76" y="204"/>
                    <a:pt x="94" y="200"/>
                    <a:pt x="91" y="209"/>
                  </a:cubicBezTo>
                  <a:cubicBezTo>
                    <a:pt x="89" y="218"/>
                    <a:pt x="47" y="232"/>
                    <a:pt x="38" y="235"/>
                  </a:cubicBezTo>
                  <a:cubicBezTo>
                    <a:pt x="20" y="298"/>
                    <a:pt x="37" y="278"/>
                    <a:pt x="0" y="306"/>
                  </a:cubicBezTo>
                  <a:cubicBezTo>
                    <a:pt x="5" y="314"/>
                    <a:pt x="11" y="322"/>
                    <a:pt x="15" y="332"/>
                  </a:cubicBezTo>
                  <a:cubicBezTo>
                    <a:pt x="27" y="345"/>
                    <a:pt x="65" y="366"/>
                    <a:pt x="69" y="385"/>
                  </a:cubicBezTo>
                  <a:cubicBezTo>
                    <a:pt x="71" y="398"/>
                    <a:pt x="28" y="428"/>
                    <a:pt x="38" y="447"/>
                  </a:cubicBezTo>
                  <a:cubicBezTo>
                    <a:pt x="28" y="480"/>
                    <a:pt x="110" y="494"/>
                    <a:pt x="129" y="499"/>
                  </a:cubicBezTo>
                  <a:cubicBezTo>
                    <a:pt x="157" y="521"/>
                    <a:pt x="162" y="579"/>
                    <a:pt x="198" y="587"/>
                  </a:cubicBezTo>
                  <a:cubicBezTo>
                    <a:pt x="275" y="607"/>
                    <a:pt x="321" y="631"/>
                    <a:pt x="400" y="635"/>
                  </a:cubicBezTo>
                  <a:cubicBezTo>
                    <a:pt x="471" y="643"/>
                    <a:pt x="513" y="654"/>
                    <a:pt x="568" y="655"/>
                  </a:cubicBezTo>
                  <a:cubicBezTo>
                    <a:pt x="628" y="661"/>
                    <a:pt x="700" y="664"/>
                    <a:pt x="760" y="671"/>
                  </a:cubicBezTo>
                  <a:cubicBezTo>
                    <a:pt x="817" y="693"/>
                    <a:pt x="869" y="677"/>
                    <a:pt x="928" y="699"/>
                  </a:cubicBezTo>
                  <a:cubicBezTo>
                    <a:pt x="1070" y="753"/>
                    <a:pt x="1355" y="693"/>
                    <a:pt x="1355" y="693"/>
                  </a:cubicBezTo>
                  <a:cubicBezTo>
                    <a:pt x="1539" y="731"/>
                    <a:pt x="1520" y="737"/>
                    <a:pt x="1751" y="746"/>
                  </a:cubicBezTo>
                  <a:cubicBezTo>
                    <a:pt x="1912" y="769"/>
                    <a:pt x="1924" y="727"/>
                    <a:pt x="2228" y="743"/>
                  </a:cubicBezTo>
                  <a:cubicBezTo>
                    <a:pt x="2298" y="752"/>
                    <a:pt x="2337" y="736"/>
                    <a:pt x="2388" y="739"/>
                  </a:cubicBezTo>
                  <a:cubicBezTo>
                    <a:pt x="2439" y="742"/>
                    <a:pt x="2496" y="758"/>
                    <a:pt x="2535" y="762"/>
                  </a:cubicBezTo>
                  <a:cubicBezTo>
                    <a:pt x="2574" y="766"/>
                    <a:pt x="2586" y="753"/>
                    <a:pt x="2624" y="761"/>
                  </a:cubicBezTo>
                  <a:cubicBezTo>
                    <a:pt x="2654" y="767"/>
                    <a:pt x="2674" y="747"/>
                    <a:pt x="2710" y="746"/>
                  </a:cubicBezTo>
                  <a:cubicBezTo>
                    <a:pt x="2816" y="740"/>
                    <a:pt x="2923" y="740"/>
                    <a:pt x="3030" y="737"/>
                  </a:cubicBezTo>
                  <a:cubicBezTo>
                    <a:pt x="3165" y="698"/>
                    <a:pt x="3192" y="700"/>
                    <a:pt x="3372" y="693"/>
                  </a:cubicBezTo>
                  <a:cubicBezTo>
                    <a:pt x="3491" y="677"/>
                    <a:pt x="3585" y="649"/>
                    <a:pt x="3707" y="640"/>
                  </a:cubicBezTo>
                  <a:cubicBezTo>
                    <a:pt x="3778" y="612"/>
                    <a:pt x="3647" y="661"/>
                    <a:pt x="3814" y="623"/>
                  </a:cubicBezTo>
                  <a:cubicBezTo>
                    <a:pt x="3939" y="593"/>
                    <a:pt x="3882" y="589"/>
                    <a:pt x="4057" y="579"/>
                  </a:cubicBezTo>
                  <a:cubicBezTo>
                    <a:pt x="4154" y="551"/>
                    <a:pt x="4197" y="549"/>
                    <a:pt x="4316" y="543"/>
                  </a:cubicBezTo>
                  <a:cubicBezTo>
                    <a:pt x="4293" y="535"/>
                    <a:pt x="4233" y="529"/>
                    <a:pt x="4225" y="526"/>
                  </a:cubicBezTo>
                  <a:cubicBezTo>
                    <a:pt x="4217" y="523"/>
                    <a:pt x="4240" y="518"/>
                    <a:pt x="4247" y="517"/>
                  </a:cubicBezTo>
                  <a:cubicBezTo>
                    <a:pt x="4275" y="513"/>
                    <a:pt x="4303" y="511"/>
                    <a:pt x="4331" y="508"/>
                  </a:cubicBezTo>
                  <a:cubicBezTo>
                    <a:pt x="4303" y="505"/>
                    <a:pt x="4275" y="504"/>
                    <a:pt x="4247" y="499"/>
                  </a:cubicBezTo>
                  <a:cubicBezTo>
                    <a:pt x="4240" y="498"/>
                    <a:pt x="4221" y="499"/>
                    <a:pt x="4225" y="491"/>
                  </a:cubicBezTo>
                  <a:cubicBezTo>
                    <a:pt x="4230" y="480"/>
                    <a:pt x="4245" y="485"/>
                    <a:pt x="4255" y="482"/>
                  </a:cubicBezTo>
                  <a:cubicBezTo>
                    <a:pt x="4318" y="494"/>
                    <a:pt x="4297" y="507"/>
                    <a:pt x="4346" y="526"/>
                  </a:cubicBezTo>
                  <a:cubicBezTo>
                    <a:pt x="4398" y="511"/>
                    <a:pt x="4453" y="470"/>
                    <a:pt x="4506" y="464"/>
                  </a:cubicBezTo>
                  <a:cubicBezTo>
                    <a:pt x="4552" y="460"/>
                    <a:pt x="4598" y="458"/>
                    <a:pt x="4643" y="455"/>
                  </a:cubicBezTo>
                  <a:cubicBezTo>
                    <a:pt x="4690" y="420"/>
                    <a:pt x="4742" y="423"/>
                    <a:pt x="4795" y="411"/>
                  </a:cubicBezTo>
                  <a:cubicBezTo>
                    <a:pt x="4834" y="382"/>
                    <a:pt x="4813" y="403"/>
                    <a:pt x="4849" y="341"/>
                  </a:cubicBezTo>
                  <a:cubicBezTo>
                    <a:pt x="4854" y="332"/>
                    <a:pt x="4864" y="314"/>
                    <a:pt x="4864" y="314"/>
                  </a:cubicBezTo>
                  <a:cubicBezTo>
                    <a:pt x="4803" y="279"/>
                    <a:pt x="4742" y="285"/>
                    <a:pt x="4674" y="279"/>
                  </a:cubicBezTo>
                  <a:cubicBezTo>
                    <a:pt x="4490" y="287"/>
                    <a:pt x="4499" y="279"/>
                    <a:pt x="4384" y="306"/>
                  </a:cubicBezTo>
                  <a:cubicBezTo>
                    <a:pt x="4293" y="303"/>
                    <a:pt x="4202" y="303"/>
                    <a:pt x="4110" y="297"/>
                  </a:cubicBezTo>
                  <a:cubicBezTo>
                    <a:pt x="4103" y="297"/>
                    <a:pt x="4126" y="288"/>
                    <a:pt x="4133" y="288"/>
                  </a:cubicBezTo>
                  <a:cubicBezTo>
                    <a:pt x="4187" y="288"/>
                    <a:pt x="4240" y="294"/>
                    <a:pt x="4293" y="297"/>
                  </a:cubicBezTo>
                  <a:cubicBezTo>
                    <a:pt x="4391" y="282"/>
                    <a:pt x="4444" y="268"/>
                    <a:pt x="4552" y="262"/>
                  </a:cubicBezTo>
                  <a:cubicBezTo>
                    <a:pt x="4601" y="247"/>
                    <a:pt x="4610" y="232"/>
                    <a:pt x="4651" y="200"/>
                  </a:cubicBezTo>
                  <a:cubicBezTo>
                    <a:pt x="4609" y="188"/>
                    <a:pt x="4562" y="193"/>
                    <a:pt x="4521" y="174"/>
                  </a:cubicBezTo>
                  <a:cubicBezTo>
                    <a:pt x="4514" y="171"/>
                    <a:pt x="4516" y="156"/>
                    <a:pt x="4514" y="147"/>
                  </a:cubicBezTo>
                  <a:cubicBezTo>
                    <a:pt x="4141" y="166"/>
                    <a:pt x="4291" y="156"/>
                    <a:pt x="4065" y="174"/>
                  </a:cubicBezTo>
                  <a:cubicBezTo>
                    <a:pt x="4015" y="182"/>
                    <a:pt x="3972" y="194"/>
                    <a:pt x="3920" y="174"/>
                  </a:cubicBezTo>
                  <a:cubicBezTo>
                    <a:pt x="3911" y="171"/>
                    <a:pt x="3935" y="160"/>
                    <a:pt x="3943" y="156"/>
                  </a:cubicBezTo>
                  <a:cubicBezTo>
                    <a:pt x="3951" y="152"/>
                    <a:pt x="3958" y="150"/>
                    <a:pt x="3966" y="147"/>
                  </a:cubicBezTo>
                  <a:cubicBezTo>
                    <a:pt x="3918" y="110"/>
                    <a:pt x="3968" y="135"/>
                    <a:pt x="3935" y="77"/>
                  </a:cubicBezTo>
                  <a:cubicBezTo>
                    <a:pt x="3812" y="86"/>
                    <a:pt x="3702" y="113"/>
                    <a:pt x="3578" y="121"/>
                  </a:cubicBezTo>
                  <a:cubicBezTo>
                    <a:pt x="3524" y="128"/>
                    <a:pt x="3477" y="135"/>
                    <a:pt x="3425" y="156"/>
                  </a:cubicBezTo>
                  <a:cubicBezTo>
                    <a:pt x="3342" y="188"/>
                    <a:pt x="3248" y="162"/>
                    <a:pt x="3159" y="165"/>
                  </a:cubicBezTo>
                  <a:cubicBezTo>
                    <a:pt x="2928" y="254"/>
                    <a:pt x="2813" y="169"/>
                    <a:pt x="2544" y="191"/>
                  </a:cubicBezTo>
                  <a:cubicBezTo>
                    <a:pt x="2445" y="200"/>
                    <a:pt x="2305" y="198"/>
                    <a:pt x="2260" y="187"/>
                  </a:cubicBezTo>
                  <a:cubicBezTo>
                    <a:pt x="2172" y="153"/>
                    <a:pt x="2149" y="194"/>
                    <a:pt x="2056" y="195"/>
                  </a:cubicBezTo>
                  <a:cubicBezTo>
                    <a:pt x="1964" y="187"/>
                    <a:pt x="1913" y="188"/>
                    <a:pt x="1880" y="175"/>
                  </a:cubicBezTo>
                  <a:cubicBezTo>
                    <a:pt x="1790" y="181"/>
                    <a:pt x="1677" y="212"/>
                    <a:pt x="1591" y="191"/>
                  </a:cubicBezTo>
                  <a:cubicBezTo>
                    <a:pt x="1548" y="181"/>
                    <a:pt x="1503" y="186"/>
                    <a:pt x="1460" y="175"/>
                  </a:cubicBezTo>
                  <a:cubicBezTo>
                    <a:pt x="1435" y="185"/>
                    <a:pt x="1426" y="155"/>
                    <a:pt x="1401" y="165"/>
                  </a:cubicBezTo>
                  <a:cubicBezTo>
                    <a:pt x="1252" y="156"/>
                    <a:pt x="1118" y="135"/>
                    <a:pt x="967" y="130"/>
                  </a:cubicBezTo>
                  <a:cubicBezTo>
                    <a:pt x="926" y="125"/>
                    <a:pt x="836" y="116"/>
                    <a:pt x="799" y="103"/>
                  </a:cubicBezTo>
                  <a:cubicBezTo>
                    <a:pt x="798" y="103"/>
                    <a:pt x="754" y="62"/>
                    <a:pt x="746" y="59"/>
                  </a:cubicBezTo>
                  <a:cubicBezTo>
                    <a:pt x="686" y="39"/>
                    <a:pt x="609" y="39"/>
                    <a:pt x="548" y="33"/>
                  </a:cubicBezTo>
                  <a:cubicBezTo>
                    <a:pt x="523" y="22"/>
                    <a:pt x="497" y="17"/>
                    <a:pt x="472" y="6"/>
                  </a:cubicBezTo>
                  <a:cubicBezTo>
                    <a:pt x="441" y="9"/>
                    <a:pt x="411" y="11"/>
                    <a:pt x="381" y="15"/>
                  </a:cubicBezTo>
                  <a:cubicBezTo>
                    <a:pt x="353" y="15"/>
                    <a:pt x="325" y="0"/>
                    <a:pt x="306" y="4"/>
                  </a:cubicBezTo>
                  <a:close/>
                </a:path>
              </a:pathLst>
            </a:custGeom>
            <a:gradFill>
              <a:gsLst>
                <a:gs pos="0">
                  <a:srgbClr val="56A0B9"/>
                </a:gs>
                <a:gs pos="100000">
                  <a:srgbClr val="5DBDC3"/>
                </a:gs>
              </a:gsLst>
              <a:lin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24" name="平行四边形 23"/>
            <p:cNvSpPr/>
            <p:nvPr/>
          </p:nvSpPr>
          <p:spPr>
            <a:xfrm>
              <a:off x="0" y="5856445"/>
              <a:ext cx="3970749" cy="446088"/>
            </a:xfrm>
            <a:prstGeom prst="parallelogram">
              <a:avLst>
                <a:gd name="adj" fmla="val 4630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娃娃体-简" panose="040B0500000000000000" charset="-122"/>
                  <a:ea typeface="娃娃体-简" panose="040B0500000000000000" charset="-122"/>
                  <a:cs typeface="娃娃体-简" panose="040B0500000000000000" charset="-122"/>
                </a:rPr>
                <a:t>AI</a:t>
              </a:r>
              <a:r>
                <a:rPr kumimoji="0" lang="zh-CN" altLang="en-US" sz="1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娃娃体-简" panose="040B0500000000000000" charset="-122"/>
                  <a:ea typeface="娃娃体-简" panose="040B0500000000000000" charset="-122"/>
                  <a:cs typeface="娃娃体-简" panose="040B0500000000000000" charset="-122"/>
                </a:rPr>
                <a:t>大模型课程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娃娃体-简" panose="040B0500000000000000" charset="-122"/>
                  <a:ea typeface="娃娃体-简" panose="040B0500000000000000" charset="-122"/>
                  <a:cs typeface="娃娃体-简" panose="040B0500000000000000" charset="-122"/>
                </a:rPr>
                <a:t>组</a:t>
              </a:r>
            </a:p>
          </p:txBody>
        </p:sp>
      </p:grpSp>
      <p:pic>
        <p:nvPicPr>
          <p:cNvPr id="18439" name="图片 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194" y="33338"/>
            <a:ext cx="3564731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402080" y="64770"/>
            <a:ext cx="2937510" cy="601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" y="-206"/>
            <a:ext cx="1547336" cy="35961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6620" y="1380490"/>
            <a:ext cx="2399030" cy="6019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7270" y="1071245"/>
            <a:ext cx="1424940" cy="9880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9315" y="1023620"/>
            <a:ext cx="1417955" cy="1016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4" b="55436"/>
          <a:stretch>
            <a:fillRect/>
          </a:stretch>
        </p:blipFill>
        <p:spPr>
          <a:xfrm>
            <a:off x="455295" y="342265"/>
            <a:ext cx="2531745" cy="2593340"/>
          </a:xfrm>
          <a:prstGeom prst="rect">
            <a:avLst/>
          </a:prstGeom>
        </p:spPr>
      </p:pic>
      <p:pic>
        <p:nvPicPr>
          <p:cNvPr id="15" name="图片 14" descr="logo_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758950" y="33655"/>
            <a:ext cx="2476500" cy="28702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k5ODM0YmMxOWJiYWQyNDU4MGIzYWRmYTA0ZmI5ND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rgbClr val="FF00FF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8045</TotalTime>
  <Words>429</Words>
  <Application>Microsoft Office PowerPoint</Application>
  <PresentationFormat>全屏显示(16:9)</PresentationFormat>
  <Paragraphs>92</Paragraphs>
  <Slides>14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等线</vt:lpstr>
      <vt:lpstr>等线 Light</vt:lpstr>
      <vt:lpstr>仿宋</vt:lpstr>
      <vt:lpstr>华文中宋</vt:lpstr>
      <vt:lpstr>楷体_GB2312</vt:lpstr>
      <vt:lpstr>宋体</vt:lpstr>
      <vt:lpstr>娃娃体-简</vt:lpstr>
      <vt:lpstr>微软雅黑</vt:lpstr>
      <vt:lpstr>Arial</vt:lpstr>
      <vt:lpstr>Calibri</vt:lpstr>
      <vt:lpstr>Consolas</vt:lpstr>
      <vt:lpstr>Times New Roman</vt:lpstr>
      <vt:lpstr>Wingdings</vt:lpstr>
      <vt:lpstr>Office 主题​​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hh</cp:lastModifiedBy>
  <cp:revision>236</cp:revision>
  <dcterms:created xsi:type="dcterms:W3CDTF">2024-06-25T02:07:39Z</dcterms:created>
  <dcterms:modified xsi:type="dcterms:W3CDTF">2026-04-27T12:56:19Z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wqlLaW5nc29mdCBQREYgdG8gV1BTIDkw</vt:lpwstr>
  </property>
  <property fmtid="{D5CDD505-2E9C-101B-9397-08002B2CF9AE}" pid="3" name="Created">
    <vt:filetime>2024-05-09T00:32:21Z</vt:filetime>
  </property>
  <property fmtid="{D5CDD505-2E9C-101B-9397-08002B2CF9AE}" pid="4" name="ICV">
    <vt:lpwstr>D53B06B3781F02E8D51E7A66510B4DCD_43</vt:lpwstr>
  </property>
  <property fmtid="{D5CDD505-2E9C-101B-9397-08002B2CF9AE}" pid="5" name="KSOProductBuildVer">
    <vt:lpwstr>2052-6.7.1.8828</vt:lpwstr>
  </property>
</Properties>
</file>